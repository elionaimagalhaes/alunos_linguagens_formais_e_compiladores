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709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conectando a aula ao cronograma: após conceitos iniciais e hierarquia de Chomsky, os estudantes começam a construir representações. Explique que ER, gramáticas regulares e autômatos finitos são visões diferentes da mesma classe de linguagens: as linguagens regulares.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para estabelecer expectativas mensuráveis. Ao final, o aluno deve conseguir explicar uma linguagem como conjunto de palavras e escolher uma representação formal adequada.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que o símbolo * significa repetição de zero ou mais ocorrências. Evite começar com formalismo pesado; primeiro mostre a ideia de reconhecer um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componente com uma analogia: a gramática é uma “máquina de gerar palavras”. O importante é verificar se toda palavra gerada pertence à linguagem e se toda palavra da linguagem pode ser gerada.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uma solução pode não ser única. A gramática do exemplo gera qualquer sequência de 0 e 1, mas só encerra quando produz um 1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exemplos pequenos. Explique que expressões regulares usadas em linguagens de programação têm recursos práticos extras, mas a teoria básica trabalha com união, concatenação e fecho.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aos alunos se a palavra “ab” é aceita; sim. Pergunte se “a” é aceita; não. Para aceitar também “a” quando início e fim coincidirem, a linguagem precisaria ser definida de modo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passagem conceitual: uma ER pode ser convertida em AFN; um AFN pode ser convertido em AFD; gramáticas regulares também podem ser relacionadas a autômatos.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AFD como uma máquina que lê um símbolo por vez. Ao ler 1, alterna entre par e ímpar; ao ler 0, permanece no mesmo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acompanhe com o dedo a sequência de transições. Depois pergunte qual seria o resultado para 1010: aceita, pois há dois 1s e termina em q0.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termo “adivinhar” como forma didática: o AFN explora alternativas. Na implementação, essa ideia pode ser simulada mantendo um conjunto de estados possíveis.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a simulação de AFN não escolhe apenas um caminho; ela acompanha todos os caminhos possíveis. Esse raciocínio prepara a conversão de AFN para AFD por subconjuntos.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Evite dizer que AFN é “mais poderoso”; ele é mais flexível na modelagem, mas reconhece a mesma classe de linguagens que o AFD.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necessário demonstrar toda a construção de Thompson se a turma ainda estiver no início. O objetivo aqui é mostrar a lógica de composição das partes da expressão regular.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tema não é apenas teórico: os mesmos conceitos aparecem em compiladores, validadores, busca textual e processamento de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Oriente a turma a não depender apenas da ferramenta. Primeiro desenhar o raciocínio no caderno; depois validar no simulador.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funciona como checklist. Incentive os estudantes a começarem por exemplos, porque eles reduzem ambiguidades no enunciado.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Circule pela sala observando se os estudantes percebem duas condições: começar com a e ter pelo menos dois símbolos. Não antecipe o gabarito; use as palavras de teste para orientar correções.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há outras soluções corretas. O critério de correção é reconhecer exatamente L. Faça a turma comparar ER, gramática e AFD para perceber que todas expressam as mesmas restrições.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B00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Aula: gramáticas regulares, ER, AFD e AFN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Foco: construir modelos para linguagens simples.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Tópicos: gramáticas regulares, expressões regulares, AFD e AFN.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Produto da aula: dado um enunciado, representar a linguagem de três formas.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Contexto: base para análise léxica em compiladores.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Exemplo real: reconhecer tokens como identificadores, números e operadores em código-fonte.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Referência: MIT OCW – “Introduction, Finite Automata, Regular Expressions”.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YouTube: MIT OCW Lecture 1 – Finite Automata, Regular Expressions.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aprendizagem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Interpretar enunciados de linguagens regulares.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Construir gramáticas regulares à direita para linguagens propostas.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Escrever expressões regulares equivalentes.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Construir e simular AFDs e AFNs.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Comparar AFD e AFN quanto à forma de processamento.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Competência trabalhada: representar formalmente problemas por modelos e abstrações.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Uso em compiladores: especificação de padrões léxicos.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Recordando: linguagem regular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Uma linguagem regular pode ser descrita por expressão regular, gramática regular ou autômato finito.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alfabeto Σ define os símbolos permitidos.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linguagem L é um conjunto de palavras sobre Σ.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Exemplo: Σ = {a, b}; L = palavras que terminam em ab.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ER: (a|b)*ab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AFD: estados indicam “quanto do sufixo ab já foi visto”.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Link: MIT OCW – Lecture 1.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Gramática regular: estrutura essencial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Gramática G = (V, Σ, P, S).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V: variáveis ou não terminais.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Σ: símbolos terminais do alfabeto.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P: regras de produção.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S: símbolo inicial.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 gramática regular à direita: A → aB, A → a ou A → ε.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Exemplo: linguagem a* b sobre Σ={a,b}.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S → aS | b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Gera: b, ab, aab, aaab...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4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Construindo uma gramática regular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Passo 1: identifique o padrão da linguagem.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Passo 2: associe variáveis a etapas do padrão.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Passo 3: crie regras que avancem no padrão.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Passo 4: defina onde a geração pode terminar.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Passo 5: teste palavras aceitas e rejeitadas.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 = palavras sobre {0,1} que terminam em 1.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S → 0S | 1S | 1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Testes: 1, 01, 101 aceitas; 0 e 10 rejeitadas.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Expressões regulares: operadores básicos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União: r | s significa “r ou s”.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Concatenação: rs significa “r seguido de s”.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Fecho de Kleene: r* significa zero ou mais repetições.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Parênteses definem agrupamento.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ε representa palavra vazia.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Padrão real: e-mail simplificado não é boa ER didática completa.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Melhor exemplo inicial: identificador de linguagem C-like.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ER simplificada: letra(letra|digito)*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linguagem para a ER: estratégia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Procure prefixo obrigatório, parte repetitiva e sufixo obrigatório.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Traduza alternativas com união.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Traduza “qualquer quantidade” com *.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parênteses para evitar ambiguidade de leitura.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Valide com contraexemplos.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 = palavras sobre {a,b} que começam com a e terminam com b.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ER: a(a|b)*b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Atenção: essa ER exige pelo menos 2 símbolos.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7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Equivalência: gramática, ER e autômato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Gramática regular gera palavras.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Expressão regular descreve padrão.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Autômato finito reconhece palavras.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três representações descrevem linguagens regulares.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a representação mais útil para a tarefa.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Compilador: ER especifica token; autômato implementa o reconhecimento.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JFLAP permite desenhar e simular autômatos finitos.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8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AFD: autômato finito determinístico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 formal: M = (Q, Σ, δ, q0, F).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 cada estado e símbolo, há uma única próxima transição.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palavra é aceita se terminar em estado final.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Não há escolha durante a leitura.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 = palavras sobre {0,1} com número par de 1s.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Estado q0: quantidade par de 1s.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Estado q1: quantidade ímpar de 1s.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9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46720" y="429768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10728" y="4361688"/>
            <a:ext cx="530352" cy="530352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4498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q0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149840" y="429768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49840" y="4498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q1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0" y="4617720"/>
            <a:ext cx="1417320" cy="0"/>
          </a:xfrm>
          <a:prstGeom prst="line">
            <a:avLst/>
          </a:prstGeom>
          <a:noFill/>
          <a:ln w="2159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9212580" y="4361688"/>
            <a:ext cx="50292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149840" y="4434840"/>
            <a:ext cx="0" cy="0"/>
          </a:xfrm>
          <a:prstGeom prst="line">
            <a:avLst/>
          </a:prstGeom>
          <a:noFill/>
          <a:ln w="2159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262872" y="4178808"/>
            <a:ext cx="50292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18120" y="38862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36408" y="3794760"/>
            <a:ext cx="822960" cy="640080"/>
          </a:xfrm>
          <a:prstGeom prst="arc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10835640" y="38862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149840" y="3794760"/>
            <a:ext cx="822960" cy="640080"/>
          </a:xfrm>
          <a:prstGeom prst="arc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Simulação de AFD: leitura passo a passo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583680" cy="530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Entrada: 10110.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Estado inicial: q0.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Leia 1: q0 → q1.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Leia 0: q1 → q1.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Leia 1: q1 → q0.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Leia 1: q0 → q1.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Leia 0: q1 → q1.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Resultado: rejeita, pois termina em q1.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 = palavras com número par de 1s.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10110 tem três símbolos 1.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Logo, não pertence a 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AFN: autômato finito não determinístico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Pode haver mais de uma transição para o mesmo símbolo.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Pode haver caminhos sem saída.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palavra é aceita se existir pelo menos um caminho que termine em estado final.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AFN e AFD reconhecem a mesma classe de linguagens: linguagens regulares.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 = palavras sobre {a,b} que terminam em ab.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Ideia do AFN: permanecer lendo qualquer símbolo e “adivinhar” o início do sufixo ab.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Simulação de AFN: conjunto de estados possíveis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629400" cy="5029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Entrada: aab.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Comece com o conjunto {q0}.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Após ler a: possíveis estados {q0, q1}.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Após ler a: possíveis estados {q0, q1}.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Após ler b: possíveis estados {q0, q2}.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Aceita, pois q2 é final.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 = palavras que terminam em ab.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AFN: q0 faz laço com a,b; q0 --a--&gt; q1; q1 --b--&gt; q2 final.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Vídeo: MIT OCW Lecture 2 – Nondeterminism.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92440" y="429768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4498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q0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281160" y="429768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81160" y="4498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q1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469880" y="429768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33888" y="4361688"/>
            <a:ext cx="530352" cy="530352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69880" y="4498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q2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732520" y="4617720"/>
            <a:ext cx="502920" cy="0"/>
          </a:xfrm>
          <a:prstGeom prst="line">
            <a:avLst/>
          </a:prstGeom>
          <a:noFill/>
          <a:ln w="2159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8801100" y="4361688"/>
            <a:ext cx="50292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921240" y="4617720"/>
            <a:ext cx="502920" cy="0"/>
          </a:xfrm>
          <a:prstGeom prst="line">
            <a:avLst/>
          </a:prstGeom>
          <a:noFill/>
          <a:ln w="2159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9989820" y="4361688"/>
            <a:ext cx="50292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b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26680" y="388620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a,b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882128" y="3749040"/>
            <a:ext cx="868680" cy="685800"/>
          </a:xfrm>
          <a:prstGeom prst="arc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AFD × AFN: diferenças práticas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AFD: uma transição ativa por símbolo lido.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AFN: vários caminhos possíveis ao mesmo tempo.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AFD costuma ser mais direto para implementação.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AFN costuma ser mais simples para construir a partir de uma ER.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Todo AFN pode ser convertido para um AFD equivalente.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Na análise léxica, ferramentas podem construir AFNs a partir de ERs e depois gerar AFDs eficientes.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Link: MIT OCW Lecture 2.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Construção guiada: de ER para AFN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 r | s: crie escolha entre dois caminhos.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 rs: conecte o fim de r ao início de 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 r*: permita repetir r ou pular para o fim.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Resultado típico: AFN com transições ε.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Depois, o AFN pode ser simulado ou convertido para AFD.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ER: (a|b)*ab.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Interpretação: qualquer sequência de a/b, seguida obrigatoriamente de ab.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Link: MIT OCW Lecture 2 e JFLAP.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14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Aplicação prática: análise léxica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 analisador léxico recebe código-fonte como entrada.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 separa a entrada em tokens: identificadores, números, palavras-chave e operadores.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Cada token pode ser especificado por uma ER.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Autômatos finitos são usados para reconhecer esses padrões.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Exemplo de token: identificador.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ER simplificada: letra(letra|digito)*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Entrada: soma2 = total + 10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Ferramenta de simulação: JFLAP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JFLAP permite criar autômatos finitos visualmente.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 possível testar entradas aceitas e rejeitadas.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Ajuda a verificar erros de transição e estados finais.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Boa prática: simular pelo menos três palavras aceitas e três rejeitadas.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Link: jflap.org/tutorial/fa/createfa/fa.html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Atividade rápida: desenhar AFD para palavras que terminam em 01.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Teste: 01, 101, 1101 aceitas; 0, 10, 111 rejeitadas.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de resolução de problemas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1. Defina Σ e escreva a linguagem em palavras simples.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2. Liste exemplos aceitos e rejeitados.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3. Escreva uma ER inicial.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4. Construa uma gramática regular equivalente.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5. Desenhe o AFD ou AFN.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6. Simule entradas e revise inconsistências.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96012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7848" y="1124712"/>
            <a:ext cx="3483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0" y="1563624"/>
            <a:ext cx="34290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Problema-modelo: L = palavras sobre {0,1} que contêm pelo menos um 1.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ER: 0*1(0|1)*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Gramática: S → 0S | 1A; A → 0A | 1A | 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17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de fixação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94944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Considere Σ = {a, b}.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 = palavras que começam com a e têm comprimento pelo menos 2.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Tarefa 1: escreva uma expressão regular para L.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Tarefa 2: construa uma gramática regular à direita para L.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Tarefa 3: descreva um AFD que reconheça L.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sua solução com: a, ab, aa, ba, bba, aab.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09560" y="960120"/>
            <a:ext cx="3657600" cy="48920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10728" y="1124712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138160" y="1563624"/>
            <a:ext cx="32004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Tempo sugerido: 10 a 15 minutos.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Trabalho em duplas.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Entregar: ER + produções + desenho ou descrição do AFD.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18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0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Gabarito comentado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949440" cy="5212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 possível: a(a|b)+ ou a(a|b)(a|b)*.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Gramática possível: S → aA; A → aB | bB; B → aB | bB | ε.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AFD: q0 inicial; lendo a vai para q1; lendo b vai para qerro.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 q1, lendo a ou b vai para q2 final.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 q2, lendo a ou b permanece em q2.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qerro consome a ou b e permanece em qerro.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55280" y="960120"/>
            <a:ext cx="3657600" cy="48920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56448" y="1124712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4E79"/>
                </a:solidFill>
              </a:rPr>
              <a:t>Exemplo / link recomendado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183880" y="1563624"/>
            <a:ext cx="32004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Testes: a rejeita; ab, aa, aab aceitam; ba e bba rejeitam.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Comentário: q1 lembra “começou com a, mas ainda falta um símbolo”.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74151"/>
                </a:solidFill>
              </a:rPr>
              <a:t>q2 lembra “condições satisfeitas”.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65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19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2575</Words>
  <Application>Microsoft Office PowerPoint</Application>
  <PresentationFormat>Widescreen</PresentationFormat>
  <Paragraphs>276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Professor Msc Elionai Magalhães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Gramáticas regulares, expressões regulares e autômatos finitos</dc:title>
  <dc:subject>Linguagens Formais e Compiladores</dc:subject>
  <dc:creator>OpenAI - ChatGPT</dc:creator>
  <cp:lastModifiedBy>Elionai</cp:lastModifiedBy>
  <cp:revision>1</cp:revision>
  <dcterms:created xsi:type="dcterms:W3CDTF">2026-08-06T01:11:35Z</dcterms:created>
  <dcterms:modified xsi:type="dcterms:W3CDTF">2026-08-06T01:13:11Z</dcterms:modified>
</cp:coreProperties>
</file>