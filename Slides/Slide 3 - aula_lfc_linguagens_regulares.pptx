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31772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Linguagens Formais e Compiladores
Apresente a aula como uma ponte entre teoria e prática. Explique que o objetivo não é decorar símbolos, mas perceber que os mesmos padrões aparecem em validação de textos, filtros, editores de código e análise léxica.
Sugestão didática: solicitar aos alunos que indiquem um exemplo aceito e um exemplo rejeitado relacionado ao conceito do slide antes de avançar.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 que estudar linguagens regulares?
Dê exemplos próximos dos alunos: validar e-mail simples, reconhecer número inteiro, separar palavras reservadas e identificar operadores. Reforce que a análise léxica é uma das primeiras etapas de um compilador.
Sugestão didática: solicitar aos alunos que indiquem um exemplo aceito e um exemplo rejeitado relacionado ao conceito do slide antes de avançar.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Objetivos da aula
Leia os objetivos e diga que a aula será conduzida por exemplos. A cada novo conceito, mostre uma representação formal, um exemplo aceito, um exemplo rejeitado e uma aplicação prática.
Sugestão didática: solicitar aos alunos que indiquem um exemplo aceito e um exemplo rejeitado relacionado ao conceito do slide antes de avançar.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Alfabeto, palavra e linguagem
Explique que símbolo não precisa ser apenas letra: pode ser dígito, caractere, token ou qualquer unidade definida para o problema. Mostre que uma linguagem pode ter infinitas palavras, mesmo usando alfabeto finito.
Sugestão didática: solicitar aos alunos que indiquem um exemplo aceito e um exemplo rejeitado relacionado ao conceito do slide antes de avançar.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Palavra vazia e linguagem vazia
Use este slide para evitar um erro muito comum. Peça aos alunos para comparar: L1 = {ε} aceita a cadeia vazia; L2 = ∅ não aceita nenhuma cadeia, nem mesmo a vazia.
Sugestão didática: solicitar aos alunos que indiquem um exemplo aceito e um exemplo rejeitado relacionado ao conceito do slide antes de avançar.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Operações sobre linguagens
Dê um exemplo simples: se L1={a} e L2={b}, então L1∪L2={a,b}, L1L2={ab} e L2*={ε,b,bb,bbb,...}. Explique que o fecho de Kleene sempre inclui ε.
Sugestão didática: solicitar aos alunos que indiquem um exemplo aceito e um exemplo rejeitado relacionado ao conceito do slide antes de avançar.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Gramática formal
Apresente a notação G=(V,T,P,S). Explique que variáveis são símbolos auxiliares, terminais aparecem no resultado final, produções são regras de substituição e S é o ponto de partida.
Sugestão didática: solicitar aos alunos que indiquem um exemplo aceito e um exemplo rejeitado relacionado ao conceito do slide antes de avançar.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Produções e derivação
Faça a derivação no quadro. Mostre que cada seta representa uma aplicação de regra. Se sobrar variável, a palavra ainda não terminou; se restarem apenas terminais, temos uma palavra da linguagem.
Sugestão didática: solicitar aos alunos que indiquem um exemplo aceito e um exemplo rejeitado relacionado ao conceito do slide antes de avançar.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Gramáticas regulares
Explique que a limitação é justamente o que torna o modelo operacional. Gramáticas regulares não descrevem tudo, mas descrevem muitos padrões importantes, como identificadores, números e operadores.
Sugestão didática: solicitar aos alunos que indiquem um exemplo aceito e um exemplo rejeitado relacionado ao conceito do slide antes de avançar.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Gramática regular à direita
Mostre que A→aB vira uma transição do estado A para o estado B lendo a. Explique que A→ε pode indicar que o estado A é final, dependendo da construção.
Sugestão didática: solicitar aos alunos que indiquem um exemplo aceito e um exemplo rejeitado relacionado ao conceito do slide antes de avançar.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Exemplo: linguagem ab*
Escreva a linguagem como L = {abⁿ | n ≥ 0}. Destaque que n pode ser zero, por isso a palavra a é aceita. Pergunte aos alunos se b, ba e aa devem ser aceitas.
Sugestão didática: solicitar aos alunos que indiquem um exemplo aceito e um exemplo rejeitado relacionado ao conceito do slide antes de avançar.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Derivação de uma palavra
Faça a sequência completa: S ⇒ aA ⇒ abA ⇒ abbA ⇒ abbbA ⇒ abbb. Explique que o último passo remove a variável A por meio da produção vazia.
Sugestão didática: solicitar aos alunos que indiquem um exemplo aceito e um exemplo rejeitado relacionado ao conceito do slide antes de avançar.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que é uma linguagem regular?
Reforce a equivalência: regex descreve, gramática gera, autômato reconhece. Essa frase pode ser repetida ao longo da aula como síntese mental do conteúdo.
Sugestão didática: solicitar aos alunos que indiquem um exemplo aceito e um exemplo rejeitado relacionado ao conceito do slide antes de avançar.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Expressões regulares
Explique que a expressão regular teórica é diferente de alguns recursos das linguagens de programação, mas a base conceitual é a mesma. Use exemplos aceitos e rejeitados.
Sugestão didática: solicitar aos alunos que indiquem um exemplo aceito e um exemplo rejeitado relacionado ao conceito do slide antes de avançar.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Operadores mais comuns
Mostre exemplos: ab significa a seguido de b; a|b significa a ou b; a* significa zero ou mais a; a+ significa uma ou mais a; a? significa zero ou uma ocorrência.
Sugestão didática: solicitar aos alunos que indiquem um exemplo aceito e um exemplo rejeitado relacionado ao conceito do slide antes de avançar.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Agrupamento e precedência
Peça aos alunos para listar palavras aceitas por ab* e por (ab)*. Destaque que a primeira aceita a, ab, abb; a segunda aceita ε, ab, abab, ababab.
Sugestão didática: solicitar aos alunos que indiquem um exemplo aceito e um exemplo rejeitado relacionado ao conceito do slide antes de avançar.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Classes de caracteres e âncoras
Explique que classes e âncoras pertencem à sintaxe prática das linguagens. Mostre que validar a palavra inteira é diferente de encontrar um trecho dentro da palavra.
Sugestão didática: solicitar aos alunos que indiquem um exemplo aceito e um exemplo rejeitado relacionado ao conceito do slide antes de avançar.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Identificadores em linguagens
Explique que cada linguagem de programação define regras próprias para identificadores. Algumas permitem sublinhado, Unicode ou outros símbolos. O objetivo aqui é mostrar a estrutura básica do reconhecimento.
Sugestão didática: solicitar aos alunos que indiquem um exemplo aceito e um exemplo rejeitado relacionado ao conceito do slide antes de avançar.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Limites das expressões regulares
Use linguagem acessível: o autômato finito não consegue contar indefinidamente quantos a apareceram para depois comparar com a quantidade de b. Esse tema prepara a futura discussão sobre gramáticas livres de contexto.
Sugestão didática: solicitar aos alunos que indiquem um exemplo aceito e um exemplo rejeitado relacionado ao conceito do slide antes de avançar.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Tokens, lexemas e padrões
Trabalhe com um exemplo de código simples: if (x == 10). Mostre que o analisador léxico não interpreta todo o programa, apenas separa e classifica partes menores.
Sugestão didática: solicitar aos alunos que indiquem um exemplo aceito e um exemplo rejeitado relacionado ao conceito do slide antes de avançar.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Análise léxica no compilador
Explique que a análise sintática trabalha melhor quando recebe tokens, não caracteres brutos. Relacione a etapa com scanners e lexers.
Sugestão didática: solicitar aos alunos que indiquem um exemplo aceito e um exemplo rejeitado relacionado ao conceito do slide antes de avançar.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Autômatos finitos
Apresente os elementos: alfabeto, conjunto de estados, estado inicial, estados finais e função de transição. Evite excesso de formalismo neste primeiro momento; foque na ideia operacional.
Sugestão didática: solicitar aos alunos que indiquem um exemplo aceito e um exemplo rejeitado relacionado ao conceito do slide antes de avançar.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DFA: determinístico
Ressalte que determinismo não significa simplicidade visual, mas ausência de dúvida na execução. Para cada par estado/símbolo, há uma próxima ação bem definida.
Sugestão didática: solicitar aos alunos que indiquem um exemplo aceito e um exemplo rejeitado relacionado ao conceito do slide antes de avançar.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NFA: não determinístico
Explique que o NFA pode ser visto como uma máquina que acompanha várias possibilidades ao mesmo tempo. Depois, a construção de subconjuntos transforma essas possibilidades em estados de um DFA.
Sugestão didática: solicitar aos alunos que indiquem um exemplo aceito e um exemplo rejeitado relacionado ao conceito do slide antes de avançar.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vazia
Mostre que a cadeia de entrada não avança quando a transição ε é usada. Explique que esse recurso é comum em NFAs e importante na conversão de regex para autômato.
Sugestão didática: solicitar aos alunos que indiquem um exemplo aceito e um exemplo rejeitado relacionado ao conceito do slide antes de avançar.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Equivalência entre modelos
Use o exemplo ab*. Mostre a expressão ab*, a gramática S→aA; A→bA|ε, e o autômato com q0 --a--&gt; q1 e laço b em q1.
Sugestão didática: solicitar aos alunos que indiquem um exemplo aceito e um exemplo rejeitado relacionado ao conceito do slide antes de avançar.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 gramática ao autômato
Sugestão de passo a passo no quadro: liste variáveis, crie estados, marque o inicial, transforme cada produção em transição e marque finais. Depois teste palavras aceitas e rejeitadas.
Sugestão didática: solicitar aos alunos que indiquem um exemplo aceito e um exemplo rejeitado relacionado ao conceito do slide antes de avançar.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 expressão regular ao NFA
Explique a ideia de construção de Thompson de forma intuitiva, sem exigir todos os detalhes formais. Mostre que a notação compacta da regex pode virar uma máquina executável.
Sugestão didática: solicitar aos alunos que indiquem um exemplo aceito e um exemplo rejeitado relacionado ao conceito do slide antes de avançar.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NFA ao DFA
Dê um exemplo verbal: se depois de ler a o NFA pode estar em q0 ou q1, então o DFA terá um estado chamado {q0,q1}. Esse estado representa uma situação composta.
Sugestão didática: solicitar aos alunos que indiquem um exemplo aceito e um exemplo rejeitado relacionado ao conceito do slide antes de avançar.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Minimização de DFA
Explique que dois estados são equivalentes quando, a partir deles, qualquer continuação leva ao mesmo tipo de resposta: aceita ou rejeita. A minimização ajuda a obter uma versão mais limpa.
Sugestão didática: solicitar aos alunos que indiquem um exemplo aceito e um exemplo rejeitado relacionado ao conceito do slide antes de avançar.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Prática no JFLAP
Passo a passo sugerido: 1) abrir JFLAP; 2) selecionar Finite Automaton; 3) criar q0 e q1; 4) marcar q0 como inicial; 5) marcar q1 como final; 6) criar transições; 7) testar entradas.
Sugestão didática: solicitar aos alunos que indiquem um exemplo aceito e um exemplo rejeitado relacionado ao conceito do slide antes de avançar.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Exercício guiado: ab*
Oriente os alunos a desenhar primeiro no papel e depois no JFLAP. Peça para registrarem quais palavras foram aceitas e rejeitadas, justificando a razão.
Sugestão didática: solicitar aos alunos que indiquem um exemplo aceito e um exemplo rejeitado relacionado ao conceito do slide antes de avançar.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Testando várias entradas
Mostre que testes devem incluir casos aceitos, rejeitados e casos de borda. Para ab*, a palavra a é caso de borda, porque corresponde a zero ocorrências de b.
Sugestão didática: solicitar aos alunos que indiquem um exemplo aceito e um exemplo rejeitado relacionado ao conceito do slide antes de avançar.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Gramática regular no JFLAP
Demonstre com S→aA e A→bA|ε. Depois compare o autômato gerado com o autômato desenhado anteriormente. Esse exercício reforça a equivalência entre gramática e autômato.
Sugestão didática: solicitar aos alunos que indiquem um exemplo aceito e um exemplo rejeitado relacionado ao conceito do slide antes de avançar.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Regex em Python
Mostre o código: import re; padrao = r"ab*"; re.fullmatch(padrao,"abb"); re.fullmatch(padrao,"ba"). Explique que o retorno diferente de None indica correspondência.
Sugestão didática: solicitar aos alunos que indiquem um exemplo aceito e um exemplo rejeitado relacionado ao conceito do slide antes de avançar.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Visão contemporânea
Explique que nem toda “regex” de linguagem de programação corresponde exatamente ao modelo regular teórico. Backreferences e lookaround podem exigir mecanismos diferentes. Este ponto ajuda a conectar teoria com engenharia de software atual.
Sugestão didática: solicitar aos alunos que indiquem um exemplo aceito e um exemplo rejeitado relacionado ao conceito do slide antes de avançar.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Cuidados comuns
Dê uma estratégia de correção: para cada expressão ou autômato, escreva três palavras aceitas, três rejeitadas e um caso de borda. Isso ajuda o aluno a verificar o raciocínio.
Sugestão didática: solicitar aos alunos que indiquem um exemplo aceito e um exemplo rejeitado relacionado ao conceito do slide antes de avançar.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estudar este conteúdo
Sugira que os alunos evitem começar diretamente pelo desenho do autômato. Uma descrição informal clara costuma facilitar a regex, a gramática e os testes.
Sugestão didática: solicitar aos alunos que indiquem um exemplo aceito e um exemplo rejeitado relacionado ao conceito do slide antes de avançar.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Síntese da aula
Feche retomando a frase central: gerar, descrever e reconhecer. Pergunte qual representação cada aluno considera mais intuitiva e por quê.
Sugestão didática: solicitar aos alunos que indiquem um exemplo aceito e um exemplo rejeitado relacionado ao conceito do slide antes de avançar.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Referências e materiais
Informe que os links são materiais de apoio para estudo. Recomende começar pelo JFLAP para visualização e pelo Python para testar expressões simples.
Sugestão didática: solicitar aos alunos que indiquem um exemplo aceito e um exemplo rejeitado relacionado ao conceito do slide antes de avançar.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Referências e materiais
Informe que os links são materiais de apoio para estudo. Recomende começar pelo JFLAP para visualização e pelo Python para testar expressões simples.
Sugestão didática: solicitar aos alunos que indiquem um exemplo aceito e um exemplo rejeitado relacionado ao conceito do slide antes de avançar.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2862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playlist?list=PLEAYkSg4uSQ3yc_zf_f1GOxl5CZo0LVBb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pt-BR/docs/Web/JavaScript/Guide/Regular_expressions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docs/Web/JavaScript/Guide/Regular_expressions/Cheatsheet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eb.stanford.edu/class/archive/cs/cs143/cs143.1112/materials/lectures/lecture04.pdf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flap.org/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flap.org/tutorial/fa/createfa/fa.html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re.html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oogle/re2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6510528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Msc Elionai Magalhães – Linguagens Formais e Compiladores - 1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292608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Linguagens Formais e Compiladores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85216" y="886968"/>
            <a:ext cx="7086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Gramáticas, expressões e linguagens regulares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85216" y="1298448"/>
            <a:ext cx="694944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Nesta aula estudaremos três maneiras equivalentes de representar padrões simples: gramáticas regulares, expressões regulares e autômatos finitos. A ideia central é compreender como uma linguagem pode ser gerada por regras, descrita por uma notação compacta e reconhecida por uma máquina abstrata usada em compiladores.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321040" y="1874520"/>
            <a:ext cx="1143000" cy="365760"/>
          </a:xfrm>
          <a:prstGeom prst="roundRect">
            <a:avLst/>
          </a:prstGeom>
          <a:solidFill>
            <a:srgbClr val="DBEAFE"/>
          </a:solidFill>
          <a:ln>
            <a:solidFill>
              <a:srgbClr val="DBEAFE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GRAMÁTICA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208008" y="3246120"/>
            <a:ext cx="1051560" cy="365760"/>
          </a:xfrm>
          <a:prstGeom prst="roundRect">
            <a:avLst/>
          </a:prstGeom>
          <a:solidFill>
            <a:srgbClr val="DCFCE7"/>
          </a:solidFill>
          <a:ln>
            <a:solidFill>
              <a:srgbClr val="DCFCE7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REGEX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966960" y="1874520"/>
            <a:ext cx="1234440" cy="365760"/>
          </a:xfrm>
          <a:prstGeom prst="roundRect">
            <a:avLst/>
          </a:prstGeom>
          <a:solidFill>
            <a:srgbClr val="FEF3C7"/>
          </a:solidFill>
          <a:ln>
            <a:solidFill>
              <a:srgbClr val="FEF3C7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AUTÔMATO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961120" y="2240280"/>
            <a:ext cx="548640" cy="905256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 flipH="1">
            <a:off x="9921240" y="2240280"/>
            <a:ext cx="685800" cy="905256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720072" y="3611880"/>
            <a:ext cx="0" cy="64008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10B981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9299448" y="4251960"/>
            <a:ext cx="822960" cy="502920"/>
          </a:xfrm>
          <a:prstGeom prst="ellipse">
            <a:avLst/>
          </a:prstGeom>
          <a:solidFill>
            <a:srgbClr val="102A43"/>
          </a:solidFill>
          <a:ln w="15240">
            <a:solidFill>
              <a:srgbClr val="102A43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275320" y="5047488"/>
            <a:ext cx="301752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descrições da mesma linguagem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6510528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Msc Elionai Magalhães – Linguagens Formais e Compiladores - 2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292608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estudar linguagens regulares?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85216" y="886968"/>
            <a:ext cx="7086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Motivação e aplicações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85216" y="1298448"/>
            <a:ext cx="694944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Linguagens regulares aparecem sempre que precisamos reconhecer padrões em sequências de símbolos. Elas ajudam a validar entradas, buscar trechos em textos, separar comandos, filtrar logs e transformar código-fonte em tokens. Em compiladores, essa etapa prepara o programa para a análise sintática.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458200" y="3246120"/>
            <a:ext cx="640080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692640" y="3246120"/>
            <a:ext cx="640080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0927080" y="3246120"/>
            <a:ext cx="365760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8110728" y="2971800"/>
            <a:ext cx="685800" cy="502920"/>
          </a:xfrm>
          <a:prstGeom prst="roundRect">
            <a:avLst/>
          </a:prstGeom>
          <a:solidFill>
            <a:srgbClr val="64748B"/>
          </a:solidFill>
          <a:ln w="15240">
            <a:solidFill>
              <a:srgbClr val="64748B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079992" y="2971800"/>
            <a:ext cx="822960" cy="502920"/>
          </a:xfrm>
          <a:prstGeom prst="roundRect">
            <a:avLst/>
          </a:prstGeom>
          <a:solidFill>
            <a:srgbClr val="2563EB"/>
          </a:solidFill>
          <a:ln w="15240">
            <a:solidFill>
              <a:srgbClr val="2563EB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padrão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241280" y="2971800"/>
            <a:ext cx="777240" cy="502920"/>
          </a:xfrm>
          <a:prstGeom prst="roundRect">
            <a:avLst/>
          </a:prstGeom>
          <a:solidFill>
            <a:srgbClr val="10B981"/>
          </a:solidFill>
          <a:ln w="15240">
            <a:solidFill>
              <a:srgbClr val="10B981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091672" y="2971800"/>
            <a:ext cx="621792" cy="502920"/>
          </a:xfrm>
          <a:prstGeom prst="roundRect">
            <a:avLst/>
          </a:prstGeom>
          <a:solidFill>
            <a:srgbClr val="F59E0B"/>
          </a:solidFill>
          <a:ln w="15240">
            <a:solidFill>
              <a:srgbClr val="F59E0B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0" y="4297680"/>
            <a:ext cx="310896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compilador começa reconhecendo padrões</a:t>
            </a:r>
            <a:endParaRPr lang="en-US" sz="1100" dirty="0"/>
          </a:p>
        </p:txBody>
      </p:sp>
      <p:sp>
        <p:nvSpPr>
          <p:cNvPr id="15" name="Text 13">
            <a:hlinkClick r:id="rId3" tooltip="Stanford Compilers no YouTube"/>
          </p:cNvPr>
          <p:cNvSpPr/>
          <p:nvPr/>
        </p:nvSpPr>
        <p:spPr>
          <a:xfrm>
            <a:off x="585216" y="6053328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u="sng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tooltip="Stanford Compilers no YouTub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sugerido: Stanford Compilers no YouTube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6510528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Msc Elionai Magalhães – Linguagens Formais e Compiladores - 3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292608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da aula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85216" y="886968"/>
            <a:ext cx="7086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 aluno deverá conseguir fazer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85216" y="1298448"/>
            <a:ext cx="694944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final, o aluno </a:t>
            </a:r>
            <a:r>
              <a:rPr lang="en-US" sz="2400" dirty="0" err="1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deverá</a:t>
            </a:r>
            <a:r>
              <a:rPr lang="en-US" sz="24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saber os conceitos básicos de alfabeto, palavra e linguagem; construir gramáticas regulares simples; interpretar expressões regulares; relacionar essas representações com autômatos finitos; e aplicar testes práticos em ferramentas gratuitas, como JFLAP e Python.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412480" y="1874520"/>
            <a:ext cx="1508760" cy="384048"/>
          </a:xfrm>
          <a:prstGeom prst="roundRect">
            <a:avLst/>
          </a:prstGeom>
          <a:solidFill>
            <a:srgbClr val="DBEAFE"/>
          </a:solidFill>
          <a:ln>
            <a:solidFill>
              <a:srgbClr val="DBEAFE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descrever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921240" y="2066544"/>
            <a:ext cx="457200" cy="59436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8412480" y="2468880"/>
            <a:ext cx="1508760" cy="384048"/>
          </a:xfrm>
          <a:prstGeom prst="roundRect">
            <a:avLst/>
          </a:prstGeom>
          <a:solidFill>
            <a:srgbClr val="DBEAFE"/>
          </a:solidFill>
          <a:ln>
            <a:solidFill>
              <a:srgbClr val="DBEAFE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exemplos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921240" y="2660904"/>
            <a:ext cx="457200" cy="59436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8412480" y="3063240"/>
            <a:ext cx="1508760" cy="384048"/>
          </a:xfrm>
          <a:prstGeom prst="roundRect">
            <a:avLst/>
          </a:prstGeom>
          <a:solidFill>
            <a:srgbClr val="DBEAFE"/>
          </a:solidFill>
          <a:ln>
            <a:solidFill>
              <a:srgbClr val="DBEAFE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regex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921240" y="3255264"/>
            <a:ext cx="457200" cy="59436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8412480" y="3657600"/>
            <a:ext cx="1508760" cy="384048"/>
          </a:xfrm>
          <a:prstGeom prst="roundRect">
            <a:avLst/>
          </a:prstGeom>
          <a:solidFill>
            <a:srgbClr val="DBEAFE"/>
          </a:solidFill>
          <a:ln>
            <a:solidFill>
              <a:srgbClr val="DBEAFE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autômato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921240" y="3849624"/>
            <a:ext cx="457200" cy="59436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8412480" y="4251960"/>
            <a:ext cx="1508760" cy="384048"/>
          </a:xfrm>
          <a:prstGeom prst="roundRect">
            <a:avLst/>
          </a:prstGeom>
          <a:solidFill>
            <a:srgbClr val="DCFCE7"/>
          </a:solidFill>
          <a:ln>
            <a:solidFill>
              <a:srgbClr val="DCFCE7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testar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424160" y="4297680"/>
            <a:ext cx="685800" cy="502920"/>
          </a:xfrm>
          <a:prstGeom prst="ellipse">
            <a:avLst/>
          </a:prstGeom>
          <a:solidFill>
            <a:srgbClr val="10B981"/>
          </a:solidFill>
          <a:ln w="15240">
            <a:solidFill>
              <a:srgbClr val="10B981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ok?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6510528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Msc Elionai Magalhães – Linguagens Formais e Compiladores - 4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292608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Alfabeto, palavra e linguagem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85216" y="886968"/>
            <a:ext cx="7086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Conceitos fundamentais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85216" y="1298448"/>
            <a:ext cx="694944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alfabeto é um conjunto finito de símbolos, como Σ = {a,b}. Uma palavra é uma sequência formada com símbolos do alfabeto, como abba. Uma linguagem é um conjunto de palavras, podendo ser finito ou infinito. Essa base permite descrever problemas de reconhecimento com precisão.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321040" y="19659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563EB"/>
                </a:solidFill>
              </a:rPr>
              <a:t>Σ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412480" y="2926080"/>
            <a:ext cx="457200" cy="457200"/>
          </a:xfrm>
          <a:prstGeom prst="ellipse">
            <a:avLst/>
          </a:prstGeom>
          <a:solidFill>
            <a:srgbClr val="60A5FA"/>
          </a:solidFill>
          <a:ln w="15240">
            <a:solidFill>
              <a:srgbClr val="60A5FA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61120" y="2926080"/>
            <a:ext cx="457200" cy="457200"/>
          </a:xfrm>
          <a:prstGeom prst="ellipse">
            <a:avLst/>
          </a:prstGeom>
          <a:solidFill>
            <a:srgbClr val="60A5FA"/>
          </a:solidFill>
          <a:ln w="15240">
            <a:solidFill>
              <a:srgbClr val="60A5FA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390888" y="3145536"/>
            <a:ext cx="548640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9957816" y="2926080"/>
            <a:ext cx="868680" cy="438912"/>
          </a:xfrm>
          <a:prstGeom prst="roundRect">
            <a:avLst/>
          </a:prstGeom>
          <a:solidFill>
            <a:srgbClr val="DCFCE7"/>
          </a:solidFill>
          <a:ln>
            <a:solidFill>
              <a:srgbClr val="DCFCE7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abba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405872" y="3429000"/>
            <a:ext cx="0" cy="54864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8869680" y="4041648"/>
            <a:ext cx="2377440" cy="438912"/>
          </a:xfrm>
          <a:prstGeom prst="roundRect">
            <a:avLst/>
          </a:prstGeom>
          <a:solidFill>
            <a:srgbClr val="FEF3C7"/>
          </a:solidFill>
          <a:ln>
            <a:solidFill>
              <a:srgbClr val="FEF3C7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= conjunto de palavras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6510528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Msc Elionai Magalhães – Linguagens Formais e Compiladores - 5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292608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Palavra vazia e linguagem vazia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85216" y="886968"/>
            <a:ext cx="7086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Dois conceitos que causam confusão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85216" y="1298448"/>
            <a:ext cx="694944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palavra vazia, representada por ε, tem comprimento zero e pode pertencer a uma linguagem. Já a linguagem vazia, representada por ∅, não possui palavra alguma. Assim, {ε} não é igual a ∅, pois o primeiro conjunto contém uma palavra: a palavra vazia.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412480" y="2240280"/>
            <a:ext cx="1005840" cy="914400"/>
          </a:xfrm>
          <a:prstGeom prst="ellipse">
            <a:avLst/>
          </a:prstGeom>
          <a:solidFill>
            <a:srgbClr val="2563EB"/>
          </a:solidFill>
          <a:ln w="15240">
            <a:solidFill>
              <a:srgbClr val="2563EB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149840" y="2240280"/>
            <a:ext cx="1005840" cy="914400"/>
          </a:xfrm>
          <a:prstGeom prst="ellipse">
            <a:avLst/>
          </a:prstGeom>
          <a:solidFill>
            <a:srgbClr val="EF4444"/>
          </a:solidFill>
          <a:ln w="15240">
            <a:solidFill>
              <a:srgbClr val="EF4444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∅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229600" y="3291840"/>
            <a:ext cx="13716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palavra vazia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921240" y="3291840"/>
            <a:ext cx="146304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linguagem vazia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0" y="4160520"/>
            <a:ext cx="1051560" cy="411480"/>
          </a:xfrm>
          <a:prstGeom prst="roundRect">
            <a:avLst/>
          </a:prstGeom>
          <a:solidFill>
            <a:srgbClr val="DBEAFE"/>
          </a:solidFill>
          <a:ln>
            <a:solidFill>
              <a:srgbClr val="DBEAFE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 ∈ {ε}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784080" y="4160520"/>
            <a:ext cx="1508760" cy="411480"/>
          </a:xfrm>
          <a:prstGeom prst="roundRect">
            <a:avLst/>
          </a:prstGeom>
          <a:solidFill>
            <a:srgbClr val="FEE2E2"/>
          </a:solidFill>
          <a:ln>
            <a:solidFill>
              <a:srgbClr val="FEE2E2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∅ não tem palavras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6510528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Msc Elionai Magalhães – Linguagens Formais e Compiladores - 6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292608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Operações sobre linguagens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85216" y="886968"/>
            <a:ext cx="7086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construir linguagens maiores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85216" y="1298448"/>
            <a:ext cx="694944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linguagens podem ser combinadas por união, concatenação e fecho de Kleene. A união representa escolha; a concatenação junta palavras em sequência; e o fecho permite repetir zero ou mais vezes. Essas operações são a base para escrever expressões regulares e construir padrões mais elaborados.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321040" y="2057400"/>
            <a:ext cx="1143000" cy="384048"/>
          </a:xfrm>
          <a:prstGeom prst="roundRect">
            <a:avLst/>
          </a:prstGeom>
          <a:solidFill>
            <a:srgbClr val="DBEAFE"/>
          </a:solidFill>
          <a:ln>
            <a:solidFill>
              <a:srgbClr val="DBEAFE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L₁ = {a}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875520" y="2057400"/>
            <a:ext cx="1143000" cy="384048"/>
          </a:xfrm>
          <a:prstGeom prst="roundRect">
            <a:avLst/>
          </a:prstGeom>
          <a:solidFill>
            <a:srgbClr val="DCFCE7"/>
          </a:solidFill>
          <a:ln>
            <a:solidFill>
              <a:srgbClr val="DCFCE7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L₂ = {b}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321040" y="2880360"/>
            <a:ext cx="1783080" cy="384048"/>
          </a:xfrm>
          <a:prstGeom prst="roundRect">
            <a:avLst/>
          </a:prstGeom>
          <a:solidFill>
            <a:srgbClr val="F1F5F9"/>
          </a:solidFill>
          <a:ln>
            <a:solidFill>
              <a:srgbClr val="F1F5F9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União: {a,b}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21040" y="3520440"/>
            <a:ext cx="1783080" cy="384048"/>
          </a:xfrm>
          <a:prstGeom prst="roundRect">
            <a:avLst/>
          </a:prstGeom>
          <a:solidFill>
            <a:srgbClr val="F1F5F9"/>
          </a:solidFill>
          <a:ln>
            <a:solidFill>
              <a:srgbClr val="F1F5F9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Concat.: {ab}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321040" y="4160520"/>
            <a:ext cx="1783080" cy="384048"/>
          </a:xfrm>
          <a:prstGeom prst="roundRect">
            <a:avLst/>
          </a:prstGeom>
          <a:solidFill>
            <a:srgbClr val="F1F5F9"/>
          </a:solidFill>
          <a:ln>
            <a:solidFill>
              <a:srgbClr val="F1F5F9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Fecho: b*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66760" y="5166360"/>
            <a:ext cx="274320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operações criam linguagens maiores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6510528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Msc Elionai Magalhães – Linguagens Formais e Compiladores - 7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292608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Gramática formal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85216" y="886968"/>
            <a:ext cx="7086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 para gerar palavras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85216" y="1298448"/>
            <a:ext cx="694944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gramática formal é um conjunto de regras que explica como formar palavras de uma linguagem. Ela possui variáveis, terminais, símbolo inicial e produções. Em vez de listar todas as palavras possíveis, descrevemos um processo de geração que pode produzir várias cadeias válidas.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385048" y="1938528"/>
            <a:ext cx="2788920" cy="438912"/>
          </a:xfrm>
          <a:prstGeom prst="roundRect">
            <a:avLst/>
          </a:prstGeom>
          <a:solidFill>
            <a:srgbClr val="DBEAFE"/>
          </a:solidFill>
          <a:ln>
            <a:solidFill>
              <a:srgbClr val="DBEAFE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 = (V, T, P, S)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31352" y="2788920"/>
            <a:ext cx="594360" cy="502920"/>
          </a:xfrm>
          <a:prstGeom prst="ellipse">
            <a:avLst/>
          </a:prstGeom>
          <a:solidFill>
            <a:srgbClr val="2563EB"/>
          </a:solidFill>
          <a:ln w="15240">
            <a:solidFill>
              <a:srgbClr val="2563EB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326880" y="2788920"/>
            <a:ext cx="594360" cy="502920"/>
          </a:xfrm>
          <a:prstGeom prst="ellipse">
            <a:avLst/>
          </a:prstGeom>
          <a:solidFill>
            <a:srgbClr val="10B981"/>
          </a:solidFill>
          <a:ln w="15240">
            <a:solidFill>
              <a:srgbClr val="10B981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122408" y="2788920"/>
            <a:ext cx="594360" cy="502920"/>
          </a:xfrm>
          <a:prstGeom prst="ellipse">
            <a:avLst/>
          </a:prstGeom>
          <a:solidFill>
            <a:srgbClr val="F59E0B"/>
          </a:solidFill>
          <a:ln w="15240">
            <a:solidFill>
              <a:srgbClr val="F59E0B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17936" y="2788920"/>
            <a:ext cx="594360" cy="502920"/>
          </a:xfrm>
          <a:prstGeom prst="ellipse">
            <a:avLst/>
          </a:prstGeom>
          <a:solidFill>
            <a:srgbClr val="7C3AED"/>
          </a:solidFill>
          <a:ln w="15240">
            <a:solidFill>
              <a:srgbClr val="7C3AED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21040" y="3886200"/>
            <a:ext cx="301752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variáveis, terminais, produções e início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6510528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Msc Elionai Magalhães – Linguagens Formais e Compiladores - 8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292608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Produções e derivação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85216" y="886968"/>
            <a:ext cx="7086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Aplicando regras passo a passo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85216" y="1298448"/>
            <a:ext cx="694944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produção indica que um símbolo pode ser substituído por outro conjunto de símbolos. Por exemplo, S → aA significa que S pode gerar a seguido da variável A. Aplicando várias produções, obtemos uma derivação, que termina quando restam apenas símbolos terminais.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412480" y="2057400"/>
            <a:ext cx="685800" cy="384048"/>
          </a:xfrm>
          <a:prstGeom prst="roundRect">
            <a:avLst/>
          </a:prstGeom>
          <a:solidFill>
            <a:srgbClr val="DBEAFE"/>
          </a:solidFill>
          <a:ln>
            <a:solidFill>
              <a:srgbClr val="DBEAFE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098280" y="2249424"/>
            <a:ext cx="411480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9537192" y="2057400"/>
            <a:ext cx="731520" cy="384048"/>
          </a:xfrm>
          <a:prstGeom prst="roundRect">
            <a:avLst/>
          </a:prstGeom>
          <a:solidFill>
            <a:srgbClr val="DBEAFE"/>
          </a:solidFill>
          <a:ln>
            <a:solidFill>
              <a:srgbClr val="DBEAFE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0277856" y="2249424"/>
            <a:ext cx="393192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10689336" y="2057400"/>
            <a:ext cx="777240" cy="384048"/>
          </a:xfrm>
          <a:prstGeom prst="roundRect">
            <a:avLst/>
          </a:prstGeom>
          <a:solidFill>
            <a:srgbClr val="DBEAFE"/>
          </a:solidFill>
          <a:ln>
            <a:solidFill>
              <a:srgbClr val="DBEAFE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869680" y="3154680"/>
            <a:ext cx="868680" cy="384048"/>
          </a:xfrm>
          <a:prstGeom prst="roundRect">
            <a:avLst/>
          </a:prstGeom>
          <a:solidFill>
            <a:srgbClr val="DCFCE7"/>
          </a:solidFill>
          <a:ln>
            <a:solidFill>
              <a:srgbClr val="DCFCE7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abbA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9756648" y="3346704"/>
            <a:ext cx="347472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10B981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10131552" y="3154680"/>
            <a:ext cx="777240" cy="384048"/>
          </a:xfrm>
          <a:prstGeom prst="roundRect">
            <a:avLst/>
          </a:prstGeom>
          <a:solidFill>
            <a:srgbClr val="DCFCE7"/>
          </a:solidFill>
          <a:ln>
            <a:solidFill>
              <a:srgbClr val="DCFCE7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abb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21040" y="4389120"/>
            <a:ext cx="310896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aplicar regras até restarem só terminais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6510528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Msc Elionai Magalhães – Linguagens Formais e Compiladores - 9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292608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Gramáticas regulares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85216" y="886968"/>
            <a:ext cx="7086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Gramáticas com formato restrito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85216" y="1298448"/>
            <a:ext cx="694944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gramática regular é limitada, mas muito útil. Suas produções normalmente possuem um terminal e, no máximo, uma variável. Essa restrição permite que a linguagem gerada seja reconhecida por autômatos finitos, o que torna o modelo adequado para análise léxica.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366760" y="2103120"/>
            <a:ext cx="1051560" cy="438912"/>
          </a:xfrm>
          <a:prstGeom prst="roundRect">
            <a:avLst/>
          </a:prstGeom>
          <a:solidFill>
            <a:srgbClr val="DBEAFE"/>
          </a:solidFill>
          <a:ln>
            <a:solidFill>
              <a:srgbClr val="DBEAFE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→ aB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366760" y="2788920"/>
            <a:ext cx="1051560" cy="438912"/>
          </a:xfrm>
          <a:prstGeom prst="roundRect">
            <a:avLst/>
          </a:prstGeom>
          <a:solidFill>
            <a:srgbClr val="DCFCE7"/>
          </a:solidFill>
          <a:ln>
            <a:solidFill>
              <a:srgbClr val="DCFCE7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→ 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366760" y="3474720"/>
            <a:ext cx="1051560" cy="438912"/>
          </a:xfrm>
          <a:prstGeom prst="roundRect">
            <a:avLst/>
          </a:prstGeom>
          <a:solidFill>
            <a:srgbClr val="FEF3C7"/>
          </a:solidFill>
          <a:ln>
            <a:solidFill>
              <a:srgbClr val="FEF3C7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→ ε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601200" y="2322576"/>
            <a:ext cx="822960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601200" y="3008376"/>
            <a:ext cx="822960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10B981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601200" y="3694176"/>
            <a:ext cx="822960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10433304" y="2057400"/>
            <a:ext cx="914400" cy="438912"/>
          </a:xfrm>
          <a:prstGeom prst="roundRect">
            <a:avLst/>
          </a:prstGeom>
          <a:solidFill>
            <a:srgbClr val="2563EB"/>
          </a:solidFill>
          <a:ln w="15240">
            <a:solidFill>
              <a:srgbClr val="2563EB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433304" y="2743200"/>
            <a:ext cx="914400" cy="438912"/>
          </a:xfrm>
          <a:prstGeom prst="roundRect">
            <a:avLst/>
          </a:prstGeom>
          <a:solidFill>
            <a:srgbClr val="10B981"/>
          </a:solidFill>
          <a:ln w="15240">
            <a:solidFill>
              <a:srgbClr val="10B981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433304" y="3429000"/>
            <a:ext cx="914400" cy="438912"/>
          </a:xfrm>
          <a:prstGeom prst="roundRect">
            <a:avLst/>
          </a:prstGeom>
          <a:solidFill>
            <a:srgbClr val="F59E0B"/>
          </a:solidFill>
          <a:ln w="15240">
            <a:solidFill>
              <a:srgbClr val="F59E0B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aceita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6510528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Msc Elionai Magalhães – Linguagens Formais e Compiladores - 10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292608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Gramática regular à direita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85216" y="886968"/>
            <a:ext cx="7086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Variável no fim da produção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85216" y="1298448"/>
            <a:ext cx="694944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uma gramática regular à direita, quando existe variável no lado direito, ela aparece ao final da produção. Um exemplo é A → aB. Essa forma combina bem com autômatos finitos, porque cada variável pode ser interpretada como um estado da máquina.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412480" y="1993392"/>
            <a:ext cx="1051560" cy="384048"/>
          </a:xfrm>
          <a:prstGeom prst="roundRect">
            <a:avLst/>
          </a:prstGeom>
          <a:solidFill>
            <a:srgbClr val="DBEAFE"/>
          </a:solidFill>
          <a:ln>
            <a:solidFill>
              <a:srgbClr val="DBEAFE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→ aA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12480" y="2560320"/>
            <a:ext cx="1051560" cy="384048"/>
          </a:xfrm>
          <a:prstGeom prst="roundRect">
            <a:avLst/>
          </a:prstGeom>
          <a:solidFill>
            <a:srgbClr val="DBEAFE"/>
          </a:solidFill>
          <a:ln>
            <a:solidFill>
              <a:srgbClr val="DBEAFE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→ bA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0" y="3127248"/>
            <a:ext cx="1051560" cy="384048"/>
          </a:xfrm>
          <a:prstGeom prst="roundRect">
            <a:avLst/>
          </a:prstGeom>
          <a:solidFill>
            <a:srgbClr val="FEF3C7"/>
          </a:solidFill>
          <a:ln>
            <a:solidFill>
              <a:srgbClr val="FEF3C7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→ ε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628632" y="2761488"/>
            <a:ext cx="429768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0634472" y="2761488"/>
            <a:ext cx="402336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9939528" y="2450592"/>
            <a:ext cx="594360" cy="594360"/>
          </a:xfrm>
          <a:prstGeom prst="ellipse">
            <a:avLst/>
          </a:prstGeom>
          <a:solidFill>
            <a:srgbClr val="2563EB"/>
          </a:solidFill>
          <a:ln w="15240">
            <a:solidFill>
              <a:srgbClr val="2563EB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881360" y="2450592"/>
            <a:ext cx="594360" cy="594360"/>
          </a:xfrm>
          <a:prstGeom prst="ellipse">
            <a:avLst/>
          </a:prstGeom>
          <a:solidFill>
            <a:srgbClr val="10B981"/>
          </a:solidFill>
          <a:ln w="15240">
            <a:solidFill>
              <a:srgbClr val="10B981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652760" y="3063240"/>
            <a:ext cx="22860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36224" y="1993392"/>
            <a:ext cx="502920" cy="64008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10B981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11384280" y="1783080"/>
            <a:ext cx="22860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6510528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Msc Elionai Magalhães – Linguagens Formais e Compiladores - 11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292608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Exemplo: linguagem ab*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85216" y="886968"/>
            <a:ext cx="7086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gramática simples e útil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85216" y="1298448"/>
            <a:ext cx="694944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Considere a linguagem formada por palavras que começam com a e depois possuem zero ou mais ocorrências de b. A gramática S → aA e A → bA | ε gera a, ab, abb, abbb e assim por diante. Esse padrão é regular.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531352" y="3246120"/>
            <a:ext cx="475488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601200" y="3246120"/>
            <a:ext cx="731520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8988552" y="2898648"/>
            <a:ext cx="685800" cy="685800"/>
          </a:xfrm>
          <a:prstGeom prst="ellipse">
            <a:avLst/>
          </a:prstGeom>
          <a:solidFill>
            <a:srgbClr val="64748B"/>
          </a:solidFill>
          <a:ln w="15240">
            <a:solidFill>
              <a:srgbClr val="64748B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q0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287000" y="2898648"/>
            <a:ext cx="749808" cy="685800"/>
          </a:xfrm>
          <a:prstGeom prst="ellipse">
            <a:avLst/>
          </a:prstGeom>
          <a:solidFill>
            <a:srgbClr val="10B981"/>
          </a:solidFill>
          <a:ln w="15240">
            <a:solidFill>
              <a:srgbClr val="10B981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784080" y="2834640"/>
            <a:ext cx="27432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396728" y="2267712"/>
            <a:ext cx="530352" cy="82296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10B981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10981944" y="2377440"/>
            <a:ext cx="22860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732520" y="4617720"/>
            <a:ext cx="246888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= ab*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6510528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Msc Elionai Magalhães – Linguagens Formais e Compiladores - 12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292608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Derivação de uma palavra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85216" y="886968"/>
            <a:ext cx="7086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Gerando abbb com a gramática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85216" y="1298448"/>
            <a:ext cx="694944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gerar abbb, começamos em S. Aplicamos S → aA, depois repetimos A → bA três vezes e encerramos com A → ε. O resultado final contém apenas terminais, então a palavra pertence à linguagem gerada pela gramática regular.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412480" y="2057400"/>
            <a:ext cx="685800" cy="384048"/>
          </a:xfrm>
          <a:prstGeom prst="roundRect">
            <a:avLst/>
          </a:prstGeom>
          <a:solidFill>
            <a:srgbClr val="DBEAFE"/>
          </a:solidFill>
          <a:ln>
            <a:solidFill>
              <a:srgbClr val="DBEAFE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098280" y="2249424"/>
            <a:ext cx="411480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9537192" y="2057400"/>
            <a:ext cx="731520" cy="384048"/>
          </a:xfrm>
          <a:prstGeom prst="roundRect">
            <a:avLst/>
          </a:prstGeom>
          <a:solidFill>
            <a:srgbClr val="DBEAFE"/>
          </a:solidFill>
          <a:ln>
            <a:solidFill>
              <a:srgbClr val="DBEAFE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0277856" y="2249424"/>
            <a:ext cx="393192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10689336" y="2057400"/>
            <a:ext cx="777240" cy="384048"/>
          </a:xfrm>
          <a:prstGeom prst="roundRect">
            <a:avLst/>
          </a:prstGeom>
          <a:solidFill>
            <a:srgbClr val="DBEAFE"/>
          </a:solidFill>
          <a:ln>
            <a:solidFill>
              <a:srgbClr val="DBEAFE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869680" y="3154680"/>
            <a:ext cx="868680" cy="384048"/>
          </a:xfrm>
          <a:prstGeom prst="roundRect">
            <a:avLst/>
          </a:prstGeom>
          <a:solidFill>
            <a:srgbClr val="DCFCE7"/>
          </a:solidFill>
          <a:ln>
            <a:solidFill>
              <a:srgbClr val="DCFCE7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abbA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9756648" y="3346704"/>
            <a:ext cx="347472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10B981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10131552" y="3154680"/>
            <a:ext cx="777240" cy="384048"/>
          </a:xfrm>
          <a:prstGeom prst="roundRect">
            <a:avLst/>
          </a:prstGeom>
          <a:solidFill>
            <a:srgbClr val="DCFCE7"/>
          </a:solidFill>
          <a:ln>
            <a:solidFill>
              <a:srgbClr val="DCFCE7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abb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21040" y="4389120"/>
            <a:ext cx="310896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aplicar regras até restarem só terminais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6510528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Msc Elionai Magalhães – Linguagens Formais e Compiladores - 13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292608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uma linguagem regular?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85216" y="886968"/>
            <a:ext cx="7086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Definição prática e equivalência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85216" y="1298448"/>
            <a:ext cx="694944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linguagem é regular quando pode ser descrita por uma expressão regular, gerada por uma gramática regular ou reconhecida por um autômato finito. Essas três representações são equivalentes, mas cada uma ajuda a pensar o problema de uma maneira diferente.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503920" y="2011680"/>
            <a:ext cx="1005840" cy="502920"/>
          </a:xfrm>
          <a:prstGeom prst="roundRect">
            <a:avLst/>
          </a:prstGeom>
          <a:solidFill>
            <a:srgbClr val="2563EB"/>
          </a:solidFill>
          <a:ln w="15240">
            <a:solidFill>
              <a:srgbClr val="2563EB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Regex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104120" y="2011680"/>
            <a:ext cx="1097280" cy="502920"/>
          </a:xfrm>
          <a:prstGeom prst="roundRect">
            <a:avLst/>
          </a:prstGeom>
          <a:solidFill>
            <a:srgbClr val="10B981"/>
          </a:solidFill>
          <a:ln w="15240">
            <a:solidFill>
              <a:srgbClr val="10B981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Gramática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75028" y="3520440"/>
            <a:ext cx="914400" cy="502920"/>
          </a:xfrm>
          <a:prstGeom prst="roundRect">
            <a:avLst/>
          </a:prstGeom>
          <a:solidFill>
            <a:srgbClr val="F59E0B"/>
          </a:solidFill>
          <a:ln w="15240">
            <a:solidFill>
              <a:srgbClr val="F59E0B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509760" y="2258568"/>
            <a:ext cx="594360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0515600" y="2514600"/>
            <a:ext cx="0" cy="978408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418320" y="3493008"/>
            <a:ext cx="0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8595360" y="4572000"/>
            <a:ext cx="2514600" cy="393192"/>
          </a:xfrm>
          <a:prstGeom prst="roundRect">
            <a:avLst/>
          </a:prstGeom>
          <a:solidFill>
            <a:srgbClr val="F1F5F9"/>
          </a:solidFill>
          <a:ln>
            <a:solidFill>
              <a:srgbClr val="F1F5F9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mesma linguagem regular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6510528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Msc Elionai Magalhães – Linguagens Formais e Compiladores - 14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292608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Expressões regulares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85216" y="886968"/>
            <a:ext cx="7086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Notação compacta para padrões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85216" y="1298448"/>
            <a:ext cx="694944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expressão regular é uma forma compacta de descrever conjuntos de palavras. Ela usa símbolos, concatenação, alternativa e repetição. Por exemplo, ab* descreve palavras que começam com a e possuem zero ou mais ocorrências de b, como a, ab e abbb.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458200" y="192024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ab*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732520" y="2926080"/>
            <a:ext cx="530352" cy="384048"/>
          </a:xfrm>
          <a:prstGeom prst="roundRect">
            <a:avLst/>
          </a:prstGeom>
          <a:solidFill>
            <a:srgbClr val="DBEAFE"/>
          </a:solidFill>
          <a:ln>
            <a:solidFill>
              <a:srgbClr val="DBEAFE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418320" y="2926080"/>
            <a:ext cx="676656" cy="384048"/>
          </a:xfrm>
          <a:prstGeom prst="roundRect">
            <a:avLst/>
          </a:prstGeom>
          <a:solidFill>
            <a:srgbClr val="DCFCE7"/>
          </a:solidFill>
          <a:ln>
            <a:solidFill>
              <a:srgbClr val="DCFCE7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b*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961120" y="3346704"/>
            <a:ext cx="0" cy="630936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756648" y="3346704"/>
            <a:ext cx="0" cy="630936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8138160" y="4005072"/>
            <a:ext cx="118872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símbolo obrigatório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829800" y="4005072"/>
            <a:ext cx="105156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ou mais</a:t>
            </a:r>
            <a:endParaRPr lang="en-US" sz="1100" dirty="0"/>
          </a:p>
        </p:txBody>
      </p:sp>
      <p:sp>
        <p:nvSpPr>
          <p:cNvPr id="14" name="Text 12">
            <a:hlinkClick r:id="rId3" tooltip="Guia MDN de expressões regulares"/>
          </p:cNvPr>
          <p:cNvSpPr/>
          <p:nvPr/>
        </p:nvSpPr>
        <p:spPr>
          <a:xfrm>
            <a:off x="585216" y="6053328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u="sng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tooltip="Guia MDN de expressões regular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sugerido: Guia MDN de expressões regulares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6510528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Msc Elionai Magalhães – Linguagens Formais e Compiladores - 15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292608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Operadores mais comuns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85216" y="886968"/>
            <a:ext cx="7086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Concatenação, união e repetição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85216" y="1298448"/>
            <a:ext cx="694944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operadores mais importantes são concatenação, união e repetição. A concatenação junta padrões, a união indica escolha e o fecho de Kleene indica zero ou mais repetições. Em ferramentas práticas, também aparecem + para uma ou mais ocorrências e ? para opcionalidade.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321040" y="2057400"/>
            <a:ext cx="1143000" cy="384048"/>
          </a:xfrm>
          <a:prstGeom prst="roundRect">
            <a:avLst/>
          </a:prstGeom>
          <a:solidFill>
            <a:srgbClr val="DBEAFE"/>
          </a:solidFill>
          <a:ln>
            <a:solidFill>
              <a:srgbClr val="DBEAFE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L₁ = {a}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875520" y="2057400"/>
            <a:ext cx="1143000" cy="384048"/>
          </a:xfrm>
          <a:prstGeom prst="roundRect">
            <a:avLst/>
          </a:prstGeom>
          <a:solidFill>
            <a:srgbClr val="DCFCE7"/>
          </a:solidFill>
          <a:ln>
            <a:solidFill>
              <a:srgbClr val="DCFCE7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L₂ = {b}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321040" y="2880360"/>
            <a:ext cx="1783080" cy="384048"/>
          </a:xfrm>
          <a:prstGeom prst="roundRect">
            <a:avLst/>
          </a:prstGeom>
          <a:solidFill>
            <a:srgbClr val="F1F5F9"/>
          </a:solidFill>
          <a:ln>
            <a:solidFill>
              <a:srgbClr val="F1F5F9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União: {a,b}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21040" y="3520440"/>
            <a:ext cx="1783080" cy="384048"/>
          </a:xfrm>
          <a:prstGeom prst="roundRect">
            <a:avLst/>
          </a:prstGeom>
          <a:solidFill>
            <a:srgbClr val="F1F5F9"/>
          </a:solidFill>
          <a:ln>
            <a:solidFill>
              <a:srgbClr val="F1F5F9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Concat.: {ab}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321040" y="4160520"/>
            <a:ext cx="1783080" cy="384048"/>
          </a:xfrm>
          <a:prstGeom prst="roundRect">
            <a:avLst/>
          </a:prstGeom>
          <a:solidFill>
            <a:srgbClr val="F1F5F9"/>
          </a:solidFill>
          <a:ln>
            <a:solidFill>
              <a:srgbClr val="F1F5F9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Fecho: b*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66760" y="5166360"/>
            <a:ext cx="274320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operações criam linguagens maiores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6510528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Msc Elionai Magalhães – Linguagens Formais e Compiladores - 16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292608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Agrupamento e precedência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85216" y="886968"/>
            <a:ext cx="7086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Parênteses mudam a linguagem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85216" y="1298448"/>
            <a:ext cx="694944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Parênteses alteram a interpretação de uma expressão regular. Em ab*, apenas b se repete. Em (ab)*, o bloco ab inteiro se repete. Esse detalhe é essencial, porque uma pequena mudança na expressão pode reconhecer uma linguagem completamente diferente.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439912" y="2148840"/>
            <a:ext cx="960120" cy="457200"/>
          </a:xfrm>
          <a:prstGeom prst="roundRect">
            <a:avLst/>
          </a:prstGeom>
          <a:solidFill>
            <a:srgbClr val="DBEAFE"/>
          </a:solidFill>
          <a:ln>
            <a:solidFill>
              <a:srgbClr val="DBEAFE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ab*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966960" y="2148840"/>
            <a:ext cx="1051560" cy="457200"/>
          </a:xfrm>
          <a:prstGeom prst="roundRect">
            <a:avLst/>
          </a:prstGeom>
          <a:solidFill>
            <a:srgbClr val="DCFCE7"/>
          </a:solidFill>
          <a:ln>
            <a:solidFill>
              <a:srgbClr val="DCFCE7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(ab)*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183880" y="2834640"/>
            <a:ext cx="146304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a, ab, abb...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738360" y="2834640"/>
            <a:ext cx="155448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ε, ab, abab...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692640" y="1901952"/>
            <a:ext cx="0" cy="1618488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0" y="4187952"/>
            <a:ext cx="2240280" cy="438912"/>
          </a:xfrm>
          <a:prstGeom prst="roundRect">
            <a:avLst/>
          </a:prstGeom>
          <a:solidFill>
            <a:srgbClr val="FEF3C7"/>
          </a:solidFill>
          <a:ln>
            <a:solidFill>
              <a:srgbClr val="FEF3C7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parênteses mudam tudo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6510528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Msc Elionai Magalhães – Linguagens Formais e Compiladores - 17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292608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 de caracteres e âncoras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85216" y="886968"/>
            <a:ext cx="7086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Recursos práticos de regex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85216" y="1298448"/>
            <a:ext cx="694944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implementações práticas, classes de caracteres simplificam padrões, como [A-Za-z] para letras e [0-9] para dígitos. Âncoras como ^ e $ indicam início e fim. Esses recursos são muito usados em validação, mas devem ser entendidos com cuidado.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458200" y="192024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ab*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732520" y="2926080"/>
            <a:ext cx="530352" cy="384048"/>
          </a:xfrm>
          <a:prstGeom prst="roundRect">
            <a:avLst/>
          </a:prstGeom>
          <a:solidFill>
            <a:srgbClr val="DBEAFE"/>
          </a:solidFill>
          <a:ln>
            <a:solidFill>
              <a:srgbClr val="DBEAFE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418320" y="2926080"/>
            <a:ext cx="676656" cy="384048"/>
          </a:xfrm>
          <a:prstGeom prst="roundRect">
            <a:avLst/>
          </a:prstGeom>
          <a:solidFill>
            <a:srgbClr val="DCFCE7"/>
          </a:solidFill>
          <a:ln>
            <a:solidFill>
              <a:srgbClr val="DCFCE7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b*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961120" y="3346704"/>
            <a:ext cx="0" cy="630936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756648" y="3346704"/>
            <a:ext cx="0" cy="630936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8138160" y="4005072"/>
            <a:ext cx="118872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símbolo obrigatório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829800" y="4005072"/>
            <a:ext cx="105156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ou mais</a:t>
            </a:r>
            <a:endParaRPr lang="en-US" sz="1100" dirty="0"/>
          </a:p>
        </p:txBody>
      </p:sp>
      <p:sp>
        <p:nvSpPr>
          <p:cNvPr id="14" name="Text 12">
            <a:hlinkClick r:id="rId3" tooltip="Cheat sheet MDN de regex"/>
          </p:cNvPr>
          <p:cNvSpPr/>
          <p:nvPr/>
        </p:nvSpPr>
        <p:spPr>
          <a:xfrm>
            <a:off x="585216" y="6053328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u="sng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tooltip="Cheat sheet MDN de rege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sugerido: Cheat sheet MDN de regex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6510528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Msc Elionai Magalhães – Linguagens Formais e Compiladores - 18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292608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Identificadores em linguagens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85216" y="886968"/>
            <a:ext cx="7086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exemplo de token comum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85216" y="1298448"/>
            <a:ext cx="694944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identificador simples pode começar com uma letra e continuar com letras ou dígitos. Uma expressão regular aproximada seria [A-Za-z][A-Za-z0-9]*. Ela aceita valor1 e x, mas rejeita 1valor. Essa ideia introduz a noção de token.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138160" y="2148840"/>
            <a:ext cx="804672" cy="365760"/>
          </a:xfrm>
          <a:prstGeom prst="roundRect">
            <a:avLst/>
          </a:prstGeom>
          <a:solidFill>
            <a:srgbClr val="DBEAFE"/>
          </a:solidFill>
          <a:ln>
            <a:solidFill>
              <a:srgbClr val="DBEAFE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0" y="2148840"/>
            <a:ext cx="457200" cy="365760"/>
          </a:xfrm>
          <a:prstGeom prst="roundRect">
            <a:avLst/>
          </a:prstGeom>
          <a:solidFill>
            <a:srgbClr val="F1F5F9"/>
          </a:solidFill>
          <a:ln>
            <a:solidFill>
              <a:srgbClr val="F1F5F9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49840" y="2148840"/>
            <a:ext cx="566928" cy="365760"/>
          </a:xfrm>
          <a:prstGeom prst="roundRect">
            <a:avLst/>
          </a:prstGeom>
          <a:solidFill>
            <a:srgbClr val="DCFCE7"/>
          </a:solidFill>
          <a:ln>
            <a:solidFill>
              <a:srgbClr val="DCFCE7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549640" y="2624328"/>
            <a:ext cx="0" cy="557784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555480" y="2624328"/>
            <a:ext cx="0" cy="557784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0433304" y="2624328"/>
            <a:ext cx="0" cy="557784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10B981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8147304" y="3200400"/>
            <a:ext cx="749808" cy="347472"/>
          </a:xfrm>
          <a:prstGeom prst="roundRect">
            <a:avLst/>
          </a:prstGeom>
          <a:solidFill>
            <a:srgbClr val="DBEAFE"/>
          </a:solidFill>
          <a:ln>
            <a:solidFill>
              <a:srgbClr val="DBEAFE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71432" y="3200400"/>
            <a:ext cx="749808" cy="347472"/>
          </a:xfrm>
          <a:prstGeom prst="roundRect">
            <a:avLst/>
          </a:prstGeom>
          <a:solidFill>
            <a:srgbClr val="F1F5F9"/>
          </a:solidFill>
          <a:ln>
            <a:solidFill>
              <a:srgbClr val="F1F5F9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ATRIB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158984" y="3200400"/>
            <a:ext cx="749808" cy="347472"/>
          </a:xfrm>
          <a:prstGeom prst="roundRect">
            <a:avLst/>
          </a:prstGeom>
          <a:solidFill>
            <a:srgbClr val="DCFCE7"/>
          </a:solidFill>
          <a:ln>
            <a:solidFill>
              <a:srgbClr val="DCFCE7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549640" y="4160520"/>
            <a:ext cx="246888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lexema → token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6510528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Msc Elionai Magalhães – Linguagens Formais e Compiladores - 19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292608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Limites das expressões regulares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85216" y="886968"/>
            <a:ext cx="7086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 modelo não consegue expressar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85216" y="1298448"/>
            <a:ext cx="694944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Linguagens regulares não conseguem resolver todos os tipos de estrutura. Um exemplo clássico é exigir a mesma quantidade de a e b na forma aⁿbⁿ. Esse padrão precisa de memória não limitada, enquanto autômatos finitos possuem apenas número finito de estados.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412480" y="2057400"/>
            <a:ext cx="868680" cy="411480"/>
          </a:xfrm>
          <a:prstGeom prst="roundRect">
            <a:avLst/>
          </a:prstGeom>
          <a:solidFill>
            <a:srgbClr val="FEE2E2"/>
          </a:solidFill>
          <a:ln>
            <a:solidFill>
              <a:srgbClr val="FEE2E2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 ≠ ∅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555480" y="2057400"/>
            <a:ext cx="1005840" cy="411480"/>
          </a:xfrm>
          <a:prstGeom prst="roundRect">
            <a:avLst/>
          </a:prstGeom>
          <a:solidFill>
            <a:srgbClr val="FEE2E2"/>
          </a:solidFill>
          <a:ln>
            <a:solidFill>
              <a:srgbClr val="FEE2E2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a* ≠ a+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698480" y="2057400"/>
            <a:ext cx="685800" cy="411480"/>
          </a:xfrm>
          <a:prstGeom prst="roundRect">
            <a:avLst/>
          </a:prstGeom>
          <a:solidFill>
            <a:srgbClr val="FEF3C7"/>
          </a:solidFill>
          <a:ln>
            <a:solidFill>
              <a:srgbClr val="FEF3C7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412480" y="3063240"/>
            <a:ext cx="914400" cy="411480"/>
          </a:xfrm>
          <a:prstGeom prst="roundRect">
            <a:avLst/>
          </a:prstGeom>
          <a:solidFill>
            <a:srgbClr val="DBEAFE"/>
          </a:solidFill>
          <a:ln>
            <a:solidFill>
              <a:srgbClr val="DBEAFE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(ab)*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573768" y="3063240"/>
            <a:ext cx="914400" cy="411480"/>
          </a:xfrm>
          <a:prstGeom prst="roundRect">
            <a:avLst/>
          </a:prstGeom>
          <a:solidFill>
            <a:srgbClr val="DBEAFE"/>
          </a:solidFill>
          <a:ln>
            <a:solidFill>
              <a:srgbClr val="DBEAFE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ab*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75320" y="4251960"/>
            <a:ext cx="310896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pequenas diferenças mudam a linguagem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6510528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Msc Elionai Magalhães – Linguagens Formais e Compiladores - 20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292608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Tokens, lexemas e padrões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85216" y="886968"/>
            <a:ext cx="7086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Vocabulário da análise léxica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85216" y="1298448"/>
            <a:ext cx="694944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é a categoria reconhecida, lexema é o trecho real do texto e padrão é a regra usada para reconhecer. Em valor = 10, valor pode ser lexema de IDENT, = pode ser ATRIB e 10 pode ser NUM. Essa distinção organiza a entrada do compilador.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138160" y="2148840"/>
            <a:ext cx="804672" cy="365760"/>
          </a:xfrm>
          <a:prstGeom prst="roundRect">
            <a:avLst/>
          </a:prstGeom>
          <a:solidFill>
            <a:srgbClr val="DBEAFE"/>
          </a:solidFill>
          <a:ln>
            <a:solidFill>
              <a:srgbClr val="DBEAFE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0" y="2148840"/>
            <a:ext cx="457200" cy="365760"/>
          </a:xfrm>
          <a:prstGeom prst="roundRect">
            <a:avLst/>
          </a:prstGeom>
          <a:solidFill>
            <a:srgbClr val="F1F5F9"/>
          </a:solidFill>
          <a:ln>
            <a:solidFill>
              <a:srgbClr val="F1F5F9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49840" y="2148840"/>
            <a:ext cx="566928" cy="365760"/>
          </a:xfrm>
          <a:prstGeom prst="roundRect">
            <a:avLst/>
          </a:prstGeom>
          <a:solidFill>
            <a:srgbClr val="DCFCE7"/>
          </a:solidFill>
          <a:ln>
            <a:solidFill>
              <a:srgbClr val="DCFCE7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549640" y="2624328"/>
            <a:ext cx="0" cy="557784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555480" y="2624328"/>
            <a:ext cx="0" cy="557784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0433304" y="2624328"/>
            <a:ext cx="0" cy="557784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10B981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8147304" y="3200400"/>
            <a:ext cx="749808" cy="347472"/>
          </a:xfrm>
          <a:prstGeom prst="roundRect">
            <a:avLst/>
          </a:prstGeom>
          <a:solidFill>
            <a:srgbClr val="DBEAFE"/>
          </a:solidFill>
          <a:ln>
            <a:solidFill>
              <a:srgbClr val="DBEAFE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71432" y="3200400"/>
            <a:ext cx="749808" cy="347472"/>
          </a:xfrm>
          <a:prstGeom prst="roundRect">
            <a:avLst/>
          </a:prstGeom>
          <a:solidFill>
            <a:srgbClr val="F1F5F9"/>
          </a:solidFill>
          <a:ln>
            <a:solidFill>
              <a:srgbClr val="F1F5F9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ATRIB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158984" y="3200400"/>
            <a:ext cx="749808" cy="347472"/>
          </a:xfrm>
          <a:prstGeom prst="roundRect">
            <a:avLst/>
          </a:prstGeom>
          <a:solidFill>
            <a:srgbClr val="DCFCE7"/>
          </a:solidFill>
          <a:ln>
            <a:solidFill>
              <a:srgbClr val="DCFCE7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549640" y="4160520"/>
            <a:ext cx="246888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lexema → token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6510528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Msc Elionai Magalhães – Linguagens Formais e Compiladores - 21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292608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léxica no compilador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85216" y="886968"/>
            <a:ext cx="7086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sequência de caracteres à lista de tokens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85216" y="1298448"/>
            <a:ext cx="694944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análise léxica, cada classe de token pode ser definida por um padrão. Números, identificadores, palavras reservadas e operadores são reconhecidos antes da análise sintática. O analisador léxico transforma caracteres em uma sequência organizada de tokens para a próxima fase.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458200" y="3246120"/>
            <a:ext cx="640080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692640" y="3246120"/>
            <a:ext cx="640080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0927080" y="3246120"/>
            <a:ext cx="365760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8110728" y="2971800"/>
            <a:ext cx="685800" cy="502920"/>
          </a:xfrm>
          <a:prstGeom prst="roundRect">
            <a:avLst/>
          </a:prstGeom>
          <a:solidFill>
            <a:srgbClr val="64748B"/>
          </a:solidFill>
          <a:ln w="15240">
            <a:solidFill>
              <a:srgbClr val="64748B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079992" y="2971800"/>
            <a:ext cx="822960" cy="502920"/>
          </a:xfrm>
          <a:prstGeom prst="roundRect">
            <a:avLst/>
          </a:prstGeom>
          <a:solidFill>
            <a:srgbClr val="2563EB"/>
          </a:solidFill>
          <a:ln w="15240">
            <a:solidFill>
              <a:srgbClr val="2563EB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padrão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241280" y="2971800"/>
            <a:ext cx="777240" cy="502920"/>
          </a:xfrm>
          <a:prstGeom prst="roundRect">
            <a:avLst/>
          </a:prstGeom>
          <a:solidFill>
            <a:srgbClr val="10B981"/>
          </a:solidFill>
          <a:ln w="15240">
            <a:solidFill>
              <a:srgbClr val="10B981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091672" y="2971800"/>
            <a:ext cx="621792" cy="502920"/>
          </a:xfrm>
          <a:prstGeom prst="roundRect">
            <a:avLst/>
          </a:prstGeom>
          <a:solidFill>
            <a:srgbClr val="F59E0B"/>
          </a:solidFill>
          <a:ln w="15240">
            <a:solidFill>
              <a:srgbClr val="F59E0B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0" y="4297680"/>
            <a:ext cx="310896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compilador começa reconhecendo padrões</a:t>
            </a:r>
            <a:endParaRPr lang="en-US" sz="1100" dirty="0"/>
          </a:p>
        </p:txBody>
      </p:sp>
      <p:sp>
        <p:nvSpPr>
          <p:cNvPr id="15" name="Text 13">
            <a:hlinkClick r:id="rId3" tooltip="Aula Stanford sobre análise léxica"/>
          </p:cNvPr>
          <p:cNvSpPr/>
          <p:nvPr/>
        </p:nvSpPr>
        <p:spPr>
          <a:xfrm>
            <a:off x="585216" y="6053328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u="sng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tooltip="Aula Stanford sobre análise léxic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sugerido: Aula Stanford sobre análise léxica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6510528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Msc Elionai Magalhães – Linguagens Formais e Compiladores - 22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292608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Autômatos finitos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85216" y="886968"/>
            <a:ext cx="7086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Máquinas abstratas para reconhecer palavras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85216" y="1298448"/>
            <a:ext cx="694944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autômato finito é uma máquina abstrata formada por estados e transições. Ela lê a palavra símbolo por símbolo e muda de estado conforme regras definidas. Se terminar em um estado final, a palavra é aceita; caso contrário, é rejeitada.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275320" y="3127248"/>
            <a:ext cx="438912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281160" y="3127248"/>
            <a:ext cx="548640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0396728" y="3127248"/>
            <a:ext cx="548640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8714232" y="2816352"/>
            <a:ext cx="640080" cy="640080"/>
          </a:xfrm>
          <a:prstGeom prst="ellipse">
            <a:avLst/>
          </a:prstGeom>
          <a:solidFill>
            <a:srgbClr val="64748B"/>
          </a:solidFill>
          <a:ln w="15240">
            <a:solidFill>
              <a:srgbClr val="64748B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q0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784080" y="2816352"/>
            <a:ext cx="640080" cy="640080"/>
          </a:xfrm>
          <a:prstGeom prst="ellipse">
            <a:avLst/>
          </a:prstGeom>
          <a:solidFill>
            <a:srgbClr val="2563EB"/>
          </a:solidFill>
          <a:ln w="15240">
            <a:solidFill>
              <a:srgbClr val="2563EB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835640" y="2816352"/>
            <a:ext cx="640080" cy="640080"/>
          </a:xfrm>
          <a:prstGeom prst="ellipse">
            <a:avLst/>
          </a:prstGeom>
          <a:solidFill>
            <a:srgbClr val="10B981"/>
          </a:solidFill>
          <a:ln w="15240">
            <a:solidFill>
              <a:srgbClr val="10B981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482328" y="2743200"/>
            <a:ext cx="27432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43032" y="2743200"/>
            <a:ext cx="27432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76488" y="4297680"/>
            <a:ext cx="265176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único caminho por símbolo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6510528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Msc Elionai Magalhães – Linguagens Formais e Compiladores - 23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292608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DFA: determinístico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85216" y="886968"/>
            <a:ext cx="7086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único caminho de execução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85216" y="1298448"/>
            <a:ext cx="694944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um DFA, para cada estado e símbolo de entrada existe no máximo uma transição possível. Isso significa que a execução segue um único caminho. Essa característica facilita implementação, teste e uso em analisadores léxicos, pois não há escolha ambígua durante a leitura.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275320" y="3127248"/>
            <a:ext cx="438912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281160" y="3127248"/>
            <a:ext cx="548640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0396728" y="3127248"/>
            <a:ext cx="548640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8714232" y="2816352"/>
            <a:ext cx="640080" cy="640080"/>
          </a:xfrm>
          <a:prstGeom prst="ellipse">
            <a:avLst/>
          </a:prstGeom>
          <a:solidFill>
            <a:srgbClr val="64748B"/>
          </a:solidFill>
          <a:ln w="15240">
            <a:solidFill>
              <a:srgbClr val="64748B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q0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784080" y="2816352"/>
            <a:ext cx="640080" cy="640080"/>
          </a:xfrm>
          <a:prstGeom prst="ellipse">
            <a:avLst/>
          </a:prstGeom>
          <a:solidFill>
            <a:srgbClr val="2563EB"/>
          </a:solidFill>
          <a:ln w="15240">
            <a:solidFill>
              <a:srgbClr val="2563EB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835640" y="2816352"/>
            <a:ext cx="640080" cy="640080"/>
          </a:xfrm>
          <a:prstGeom prst="ellipse">
            <a:avLst/>
          </a:prstGeom>
          <a:solidFill>
            <a:srgbClr val="10B981"/>
          </a:solidFill>
          <a:ln w="15240">
            <a:solidFill>
              <a:srgbClr val="10B981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482328" y="2743200"/>
            <a:ext cx="27432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43032" y="2743200"/>
            <a:ext cx="27432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76488" y="4297680"/>
            <a:ext cx="265176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único caminho por símbolo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6510528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Msc Elionai Magalhães – Linguagens Formais e Compiladores - 24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292608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NFA: não determinístico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85216" y="886968"/>
            <a:ext cx="7086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Vários caminhos possíveis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85216" y="1298448"/>
            <a:ext cx="694944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um NFA, pode haver mais de uma transição para o mesmo símbolo ou transições vazias. Embora pareça mais difícil executar, ele costuma ser mais simples de construir. Todo NFA possui um DFA equivalente, ainda que o DFA possa ter mais estados.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439912" y="3182112"/>
            <a:ext cx="548640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439912" y="3182112"/>
            <a:ext cx="548640" cy="521208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8138160" y="2907792"/>
            <a:ext cx="594360" cy="594360"/>
          </a:xfrm>
          <a:prstGeom prst="ellipse">
            <a:avLst/>
          </a:prstGeom>
          <a:solidFill>
            <a:srgbClr val="64748B"/>
          </a:solidFill>
          <a:ln w="15240">
            <a:solidFill>
              <a:srgbClr val="64748B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q0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961120" y="2423160"/>
            <a:ext cx="594360" cy="594360"/>
          </a:xfrm>
          <a:prstGeom prst="ellipse">
            <a:avLst/>
          </a:prstGeom>
          <a:solidFill>
            <a:srgbClr val="2563EB"/>
          </a:solidFill>
          <a:ln w="15240">
            <a:solidFill>
              <a:srgbClr val="2563EB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961120" y="3429000"/>
            <a:ext cx="594360" cy="594360"/>
          </a:xfrm>
          <a:prstGeom prst="ellipse">
            <a:avLst/>
          </a:prstGeom>
          <a:solidFill>
            <a:srgbClr val="F59E0B"/>
          </a:solidFill>
          <a:ln w="15240">
            <a:solidFill>
              <a:srgbClr val="F59E0B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829800" y="2468880"/>
            <a:ext cx="1554480" cy="384048"/>
          </a:xfrm>
          <a:prstGeom prst="roundRect">
            <a:avLst/>
          </a:prstGeom>
          <a:solidFill>
            <a:srgbClr val="FEF3C7"/>
          </a:solidFill>
          <a:ln>
            <a:solidFill>
              <a:srgbClr val="FEF3C7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duas transições com 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966960" y="3200400"/>
            <a:ext cx="1325880" cy="411480"/>
          </a:xfrm>
          <a:prstGeom prst="roundRect">
            <a:avLst/>
          </a:prstGeom>
          <a:solidFill>
            <a:srgbClr val="FEF3C7"/>
          </a:solidFill>
          <a:ln>
            <a:solidFill>
              <a:srgbClr val="FEF3C7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de um caminho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6510528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Msc Elionai Magalhães – Linguagens Formais e Compiladores - 25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292608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Transição vazia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85216" y="886968"/>
            <a:ext cx="7086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Movimento sem consumir entrada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85216" y="1298448"/>
            <a:ext cx="694944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transição vazia permite mudar de estado sem consumir símbolo da entrada. Em livros e ferramentas ela pode aparecer como λ ou ε. Esse recurso facilita a construção de autômatos a partir de expressões regulares, especialmente em alternativas e repetições.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549640" y="3127248"/>
            <a:ext cx="685800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738360" y="3127248"/>
            <a:ext cx="685800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8458200" y="2798064"/>
            <a:ext cx="621792" cy="621792"/>
          </a:xfrm>
          <a:prstGeom prst="ellipse">
            <a:avLst/>
          </a:prstGeom>
          <a:solidFill>
            <a:srgbClr val="64748B"/>
          </a:solidFill>
          <a:ln w="15240">
            <a:solidFill>
              <a:srgbClr val="64748B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q0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235440" y="2798064"/>
            <a:ext cx="621792" cy="621792"/>
          </a:xfrm>
          <a:prstGeom prst="ellipse">
            <a:avLst/>
          </a:prstGeom>
          <a:solidFill>
            <a:srgbClr val="7C3AED"/>
          </a:solidFill>
          <a:ln w="15240">
            <a:solidFill>
              <a:srgbClr val="7C3AED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424160" y="2798064"/>
            <a:ext cx="621792" cy="621792"/>
          </a:xfrm>
          <a:prstGeom prst="ellipse">
            <a:avLst/>
          </a:prstGeom>
          <a:solidFill>
            <a:srgbClr val="10B981"/>
          </a:solidFill>
          <a:ln w="15240">
            <a:solidFill>
              <a:srgbClr val="10B981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098280" y="2423160"/>
            <a:ext cx="27432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0" y="2423160"/>
            <a:ext cx="27432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21040" y="4160520"/>
            <a:ext cx="301752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muda de estado sem consumir entrada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6510528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Msc Elionai Magalhães – Linguagens Formais e Compiladores - 26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292608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Equivalência entre modelos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85216" y="886968"/>
            <a:ext cx="7086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Regex, gramática e autômato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85216" y="1298448"/>
            <a:ext cx="694944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linguagens regulares podem ser representadas por três modelos equivalentes. Expressões regulares são práticas para escrever padrões; gramáticas mostram geração de palavras; autômatos mostram reconhecimento. A escolha depende do problema e da forma de raciocínio desejada.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503920" y="2011680"/>
            <a:ext cx="1005840" cy="502920"/>
          </a:xfrm>
          <a:prstGeom prst="roundRect">
            <a:avLst/>
          </a:prstGeom>
          <a:solidFill>
            <a:srgbClr val="2563EB"/>
          </a:solidFill>
          <a:ln w="15240">
            <a:solidFill>
              <a:srgbClr val="2563EB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Regex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104120" y="2011680"/>
            <a:ext cx="1097280" cy="502920"/>
          </a:xfrm>
          <a:prstGeom prst="roundRect">
            <a:avLst/>
          </a:prstGeom>
          <a:solidFill>
            <a:srgbClr val="10B981"/>
          </a:solidFill>
          <a:ln w="15240">
            <a:solidFill>
              <a:srgbClr val="10B981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Gramática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326880" y="3520440"/>
            <a:ext cx="914400" cy="502920"/>
          </a:xfrm>
          <a:prstGeom prst="roundRect">
            <a:avLst/>
          </a:prstGeom>
          <a:solidFill>
            <a:srgbClr val="F59E0B"/>
          </a:solidFill>
          <a:ln w="15240">
            <a:solidFill>
              <a:srgbClr val="F59E0B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509760" y="2258568"/>
            <a:ext cx="594360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0515600" y="2514600"/>
            <a:ext cx="0" cy="978408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418320" y="3493008"/>
            <a:ext cx="0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8595360" y="4572000"/>
            <a:ext cx="2514600" cy="393192"/>
          </a:xfrm>
          <a:prstGeom prst="roundRect">
            <a:avLst/>
          </a:prstGeom>
          <a:solidFill>
            <a:srgbClr val="F1F5F9"/>
          </a:solidFill>
          <a:ln>
            <a:solidFill>
              <a:srgbClr val="F1F5F9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mesma linguagem regular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6510528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Msc Elionai Magalhães – Linguagens Formais e Compiladores - 27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292608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gramática ao autômato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85216" y="886968"/>
            <a:ext cx="7086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Conversão de gramática regular à direita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85216" y="1298448"/>
            <a:ext cx="694944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converter uma gramática regular à direita em autômato, cada variável vira um estado. Uma produção A → aB vira transição de A para B lendo a. Uma produção A → a termina em estado final, e A → ε marca aceitação naquele estado.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412480" y="1993392"/>
            <a:ext cx="1051560" cy="384048"/>
          </a:xfrm>
          <a:prstGeom prst="roundRect">
            <a:avLst/>
          </a:prstGeom>
          <a:solidFill>
            <a:srgbClr val="DBEAFE"/>
          </a:solidFill>
          <a:ln>
            <a:solidFill>
              <a:srgbClr val="DBEAFE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→ aA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12480" y="2560320"/>
            <a:ext cx="1051560" cy="384048"/>
          </a:xfrm>
          <a:prstGeom prst="roundRect">
            <a:avLst/>
          </a:prstGeom>
          <a:solidFill>
            <a:srgbClr val="DBEAFE"/>
          </a:solidFill>
          <a:ln>
            <a:solidFill>
              <a:srgbClr val="DBEAFE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→ bA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0" y="3127248"/>
            <a:ext cx="1051560" cy="384048"/>
          </a:xfrm>
          <a:prstGeom prst="roundRect">
            <a:avLst/>
          </a:prstGeom>
          <a:solidFill>
            <a:srgbClr val="FEF3C7"/>
          </a:solidFill>
          <a:ln>
            <a:solidFill>
              <a:srgbClr val="FEF3C7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→ ε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628632" y="2761488"/>
            <a:ext cx="429768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0634472" y="2761488"/>
            <a:ext cx="402336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9939528" y="2450592"/>
            <a:ext cx="594360" cy="594360"/>
          </a:xfrm>
          <a:prstGeom prst="ellipse">
            <a:avLst/>
          </a:prstGeom>
          <a:solidFill>
            <a:srgbClr val="2563EB"/>
          </a:solidFill>
          <a:ln w="15240">
            <a:solidFill>
              <a:srgbClr val="2563EB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881360" y="2450592"/>
            <a:ext cx="594360" cy="594360"/>
          </a:xfrm>
          <a:prstGeom prst="ellipse">
            <a:avLst/>
          </a:prstGeom>
          <a:solidFill>
            <a:srgbClr val="10B981"/>
          </a:solidFill>
          <a:ln w="15240">
            <a:solidFill>
              <a:srgbClr val="10B981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652760" y="3063240"/>
            <a:ext cx="22860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36224" y="1993392"/>
            <a:ext cx="502920" cy="64008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10B981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11384280" y="1783080"/>
            <a:ext cx="22860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6510528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Msc Elionai Magalhães – Linguagens Formais e Compiladores - 28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292608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expressão regular ao NFA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85216" y="886968"/>
            <a:ext cx="7086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Construções básicas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85216" y="1298448"/>
            <a:ext cx="694944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expressão regular pode ser convertida em NFA usando construções básicas. Símbolos viram transições, alternativas criam caminhos paralelos, concatenação liga partes em sequência e repetição cria retorno. Ferramentas como JFLAP ajudam a visualizar esse processo durante a aprendizagem.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458200" y="192024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ab*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732520" y="2926080"/>
            <a:ext cx="530352" cy="384048"/>
          </a:xfrm>
          <a:prstGeom prst="roundRect">
            <a:avLst/>
          </a:prstGeom>
          <a:solidFill>
            <a:srgbClr val="DBEAFE"/>
          </a:solidFill>
          <a:ln>
            <a:solidFill>
              <a:srgbClr val="DBEAFE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418320" y="2926080"/>
            <a:ext cx="676656" cy="384048"/>
          </a:xfrm>
          <a:prstGeom prst="roundRect">
            <a:avLst/>
          </a:prstGeom>
          <a:solidFill>
            <a:srgbClr val="DCFCE7"/>
          </a:solidFill>
          <a:ln>
            <a:solidFill>
              <a:srgbClr val="DCFCE7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b*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961120" y="3346704"/>
            <a:ext cx="0" cy="630936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756648" y="3346704"/>
            <a:ext cx="0" cy="630936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8138160" y="4005072"/>
            <a:ext cx="118872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símbolo obrigatório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829800" y="4005072"/>
            <a:ext cx="105156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ou mais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6510528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Msc Elionai Magalhães – Linguagens Formais e Compiladores - 29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292608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NFA ao DFA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85216" y="886968"/>
            <a:ext cx="7086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Construção de subconjuntos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85216" y="1298448"/>
            <a:ext cx="694944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conversão de NFA para DFA combina conjuntos de estados do NFA em estados do DFA. Cada estado do novo autômato representa onde o NFA poderia estar depois de ler certa entrada. Assim, eliminamos múltiplos caminhos de execução e obtemos execução determinística.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412480" y="2194560"/>
            <a:ext cx="841248" cy="420624"/>
          </a:xfrm>
          <a:prstGeom prst="roundRect">
            <a:avLst/>
          </a:prstGeom>
          <a:solidFill>
            <a:srgbClr val="DBEAFE"/>
          </a:solidFill>
          <a:ln>
            <a:solidFill>
              <a:srgbClr val="DBEAFE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{q0}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253728" y="2404872"/>
            <a:ext cx="576072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9848088" y="2194560"/>
            <a:ext cx="1143000" cy="420624"/>
          </a:xfrm>
          <a:prstGeom prst="roundRect">
            <a:avLst/>
          </a:prstGeom>
          <a:solidFill>
            <a:srgbClr val="DCFCE7"/>
          </a:solidFill>
          <a:ln>
            <a:solidFill>
              <a:srgbClr val="DCFCE7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{q0,q1}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0424160" y="2743200"/>
            <a:ext cx="0" cy="59436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10B981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9994392" y="3401568"/>
            <a:ext cx="868680" cy="420624"/>
          </a:xfrm>
          <a:prstGeom prst="roundRect">
            <a:avLst/>
          </a:prstGeom>
          <a:solidFill>
            <a:srgbClr val="FEF3C7"/>
          </a:solidFill>
          <a:ln>
            <a:solidFill>
              <a:srgbClr val="FEF3C7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21040" y="4343400"/>
            <a:ext cx="310896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conjunto vira um estado determinístico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6510528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Msc Elionai Magalhães – Linguagens Formais e Compiladores - 30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292608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Minimização de DFA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85216" y="886968"/>
            <a:ext cx="7086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Reduzir estados sem mudar a linguagem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85216" y="1298448"/>
            <a:ext cx="694944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Minimizar um DFA significa reduzir estados sem alterar a linguagem reconhecida. Estados que se comportam de modo indistinguível podem ser agrupados. O resultado é um autômato menor, equivalente e geralmente mais simples para implementar, testar e explicar.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321040" y="2057400"/>
            <a:ext cx="1005840" cy="365760"/>
          </a:xfrm>
          <a:prstGeom prst="roundRect">
            <a:avLst/>
          </a:prstGeom>
          <a:solidFill>
            <a:srgbClr val="DBEAFE"/>
          </a:solidFill>
          <a:ln>
            <a:solidFill>
              <a:srgbClr val="DBEAFE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418320" y="2788920"/>
            <a:ext cx="1143000" cy="365760"/>
          </a:xfrm>
          <a:prstGeom prst="roundRect">
            <a:avLst/>
          </a:prstGeom>
          <a:solidFill>
            <a:srgbClr val="F1F5F9"/>
          </a:solidFill>
          <a:ln>
            <a:solidFill>
              <a:srgbClr val="F1F5F9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particionar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149840" y="3611880"/>
            <a:ext cx="960120" cy="365760"/>
          </a:xfrm>
          <a:prstGeom prst="roundRect">
            <a:avLst/>
          </a:prstGeom>
          <a:solidFill>
            <a:srgbClr val="DCFCE7"/>
          </a:solidFill>
          <a:ln>
            <a:solidFill>
              <a:srgbClr val="DCFCE7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mínimo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869680" y="2450592"/>
            <a:ext cx="640080" cy="329184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0058400" y="3163824"/>
            <a:ext cx="320040" cy="420624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9006840" y="4389120"/>
            <a:ext cx="1325880" cy="438912"/>
          </a:xfrm>
          <a:prstGeom prst="roundRect">
            <a:avLst/>
          </a:prstGeom>
          <a:solidFill>
            <a:srgbClr val="7C3AED"/>
          </a:solidFill>
          <a:ln w="15240">
            <a:solidFill>
              <a:srgbClr val="7C3AED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q1≈q2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75320" y="4983480"/>
            <a:ext cx="310896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estados equivalentes podem ser unidos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6510528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Msc Elionai Magalhães – Linguagens Formais e Compiladores - 31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292608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Prática no JFLAP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85216" y="886968"/>
            <a:ext cx="7086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Criando um autômato finito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85216" y="1298448"/>
            <a:ext cx="694944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praticar, baixe o JFLAP no site oficial e execute o arquivo .jar com Java instalado. Escolha Finite Automaton, crie estados, defina o estado inicial e os estados finais, desenhe transições e teste palavras em Input &gt; Multiple Run.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321040" y="2011680"/>
            <a:ext cx="1920240" cy="393192"/>
          </a:xfrm>
          <a:prstGeom prst="roundRect">
            <a:avLst/>
          </a:prstGeom>
          <a:solidFill>
            <a:srgbClr val="DBEAFE"/>
          </a:solidFill>
          <a:ln>
            <a:solidFill>
              <a:srgbClr val="DBEAFE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Abrir JFLAP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321040" y="2606040"/>
            <a:ext cx="1920240" cy="393192"/>
          </a:xfrm>
          <a:prstGeom prst="roundRect">
            <a:avLst/>
          </a:prstGeom>
          <a:solidFill>
            <a:srgbClr val="DBEAFE"/>
          </a:solidFill>
          <a:ln>
            <a:solidFill>
              <a:srgbClr val="DBEAFE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Finite Automaton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321040" y="3200400"/>
            <a:ext cx="1920240" cy="393192"/>
          </a:xfrm>
          <a:prstGeom prst="roundRect">
            <a:avLst/>
          </a:prstGeom>
          <a:solidFill>
            <a:srgbClr val="DBEAFE"/>
          </a:solidFill>
          <a:ln>
            <a:solidFill>
              <a:srgbClr val="DBEAFE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Criar estados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21040" y="3794760"/>
            <a:ext cx="1920240" cy="393192"/>
          </a:xfrm>
          <a:prstGeom prst="roundRect">
            <a:avLst/>
          </a:prstGeom>
          <a:solidFill>
            <a:srgbClr val="DCFCE7"/>
          </a:solidFill>
          <a:ln>
            <a:solidFill>
              <a:srgbClr val="DCFCE7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Multiple Run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61320" y="2697480"/>
            <a:ext cx="685800" cy="685800"/>
          </a:xfrm>
          <a:prstGeom prst="ellipse">
            <a:avLst/>
          </a:prstGeom>
          <a:solidFill>
            <a:srgbClr val="F59E0B"/>
          </a:solidFill>
          <a:ln w="15240">
            <a:solidFill>
              <a:srgbClr val="F59E0B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.jar</a:t>
            </a:r>
            <a:endParaRPr lang="en-US" sz="1500" dirty="0"/>
          </a:p>
        </p:txBody>
      </p:sp>
      <p:sp>
        <p:nvSpPr>
          <p:cNvPr id="12" name="Text 10">
            <a:hlinkClick r:id="rId3" tooltip="JFLAP oficial"/>
          </p:cNvPr>
          <p:cNvSpPr/>
          <p:nvPr/>
        </p:nvSpPr>
        <p:spPr>
          <a:xfrm>
            <a:off x="585216" y="6053328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u="sng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tooltip="JFLAP oficia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sugerido: JFLAP oficial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6510528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Msc Elionai Magalhães – Linguagens Formais e Compiladores - 32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292608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Exercício guiado: ab*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85216" y="886968"/>
            <a:ext cx="7086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Montando o autômato no JFLAP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85216" y="1298448"/>
            <a:ext cx="694944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Monte um autômato para reconhecer palavras que começam com a e depois têm zero ou mais b. Crie q0 como inicial, q1 como final, transição q0 --a--&gt; q1 e laço q1 --b--&gt; q1. Teste a, ab, abbb, b e ba.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531352" y="3246120"/>
            <a:ext cx="475488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601200" y="3246120"/>
            <a:ext cx="731520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8988552" y="2898648"/>
            <a:ext cx="685800" cy="685800"/>
          </a:xfrm>
          <a:prstGeom prst="ellipse">
            <a:avLst/>
          </a:prstGeom>
          <a:solidFill>
            <a:srgbClr val="64748B"/>
          </a:solidFill>
          <a:ln w="15240">
            <a:solidFill>
              <a:srgbClr val="64748B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q0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287000" y="2898648"/>
            <a:ext cx="749808" cy="685800"/>
          </a:xfrm>
          <a:prstGeom prst="ellipse">
            <a:avLst/>
          </a:prstGeom>
          <a:solidFill>
            <a:srgbClr val="10B981"/>
          </a:solidFill>
          <a:ln w="15240">
            <a:solidFill>
              <a:srgbClr val="10B981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784080" y="2834640"/>
            <a:ext cx="27432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396728" y="2267712"/>
            <a:ext cx="530352" cy="82296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10B981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10981944" y="2377440"/>
            <a:ext cx="22860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732520" y="4617720"/>
            <a:ext cx="246888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= ab*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6510528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Msc Elionai Magalhães – Linguagens Formais e Compiladores - 33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292608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Testando várias entradas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85216" y="886968"/>
            <a:ext cx="7086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com Multiple Run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85216" y="1298448"/>
            <a:ext cx="694944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JFLAP, use Input &gt; Multiple Run para testar várias palavras de uma vez. Digite uma palavra por linha, clique em Run Inputs e observe Accept ou Reject. Esse recurso é útil para encontrar erros no autômato e validar se o modelo corresponde à linguagem desejada.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549640" y="2057400"/>
            <a:ext cx="914400" cy="384048"/>
          </a:xfrm>
          <a:prstGeom prst="roundRect">
            <a:avLst/>
          </a:prstGeom>
          <a:solidFill>
            <a:srgbClr val="DCFCE7"/>
          </a:solidFill>
          <a:ln>
            <a:solidFill>
              <a:srgbClr val="DCFCE7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49640" y="2606040"/>
            <a:ext cx="914400" cy="384048"/>
          </a:xfrm>
          <a:prstGeom prst="roundRect">
            <a:avLst/>
          </a:prstGeom>
          <a:solidFill>
            <a:srgbClr val="DCFCE7"/>
          </a:solidFill>
          <a:ln>
            <a:solidFill>
              <a:srgbClr val="DCFCE7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 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549640" y="3154680"/>
            <a:ext cx="914400" cy="384048"/>
          </a:xfrm>
          <a:prstGeom prst="roundRect">
            <a:avLst/>
          </a:prstGeom>
          <a:solidFill>
            <a:srgbClr val="DCFCE7"/>
          </a:solidFill>
          <a:ln>
            <a:solidFill>
              <a:srgbClr val="DCFCE7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abbb 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921240" y="2057400"/>
            <a:ext cx="914400" cy="384048"/>
          </a:xfrm>
          <a:prstGeom prst="roundRect">
            <a:avLst/>
          </a:prstGeom>
          <a:solidFill>
            <a:srgbClr val="FEE2E2"/>
          </a:solidFill>
          <a:ln>
            <a:solidFill>
              <a:srgbClr val="FEE2E2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✕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921240" y="2606040"/>
            <a:ext cx="914400" cy="384048"/>
          </a:xfrm>
          <a:prstGeom prst="roundRect">
            <a:avLst/>
          </a:prstGeom>
          <a:solidFill>
            <a:srgbClr val="FEE2E2"/>
          </a:solidFill>
          <a:ln>
            <a:solidFill>
              <a:srgbClr val="FEE2E2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 ✕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921240" y="3154680"/>
            <a:ext cx="914400" cy="384048"/>
          </a:xfrm>
          <a:prstGeom prst="roundRect">
            <a:avLst/>
          </a:prstGeom>
          <a:solidFill>
            <a:srgbClr val="FEE2E2"/>
          </a:solidFill>
          <a:ln>
            <a:solidFill>
              <a:srgbClr val="FEE2E2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abbc ✕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21040" y="4206240"/>
            <a:ext cx="301752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 revelam erros de modelagem</a:t>
            </a:r>
            <a:endParaRPr lang="en-US" sz="1100" dirty="0"/>
          </a:p>
        </p:txBody>
      </p:sp>
      <p:sp>
        <p:nvSpPr>
          <p:cNvPr id="14" name="Text 12">
            <a:hlinkClick r:id="rId3" tooltip="Tutorial JFLAP FA"/>
          </p:cNvPr>
          <p:cNvSpPr/>
          <p:nvPr/>
        </p:nvSpPr>
        <p:spPr>
          <a:xfrm>
            <a:off x="585216" y="6053328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u="sng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tooltip="Tutorial JFLAP F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sugerido: Tutorial JFLAP FA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6510528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Msc Elionai Magalhães – Linguagens Formais e Compiladores - 34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292608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Gramática regular no JFLAP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85216" y="886968"/>
            <a:ext cx="7086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Convertendo regras em autômato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85216" y="1298448"/>
            <a:ext cx="694944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JFLAP, escolha Grammar, digite uma produção por linha e deixe o lado direito vazio para ε quando necessário. Depois use Convert &gt; Convert Right-Linear Grammar to FA. A ferramenta mostra a relação entre produções e transições no autômato gerado.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321040" y="2011680"/>
            <a:ext cx="1920240" cy="393192"/>
          </a:xfrm>
          <a:prstGeom prst="roundRect">
            <a:avLst/>
          </a:prstGeom>
          <a:solidFill>
            <a:srgbClr val="DBEAFE"/>
          </a:solidFill>
          <a:ln>
            <a:solidFill>
              <a:srgbClr val="DBEAFE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Abrir JFLAP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321040" y="2606040"/>
            <a:ext cx="1920240" cy="393192"/>
          </a:xfrm>
          <a:prstGeom prst="roundRect">
            <a:avLst/>
          </a:prstGeom>
          <a:solidFill>
            <a:srgbClr val="DBEAFE"/>
          </a:solidFill>
          <a:ln>
            <a:solidFill>
              <a:srgbClr val="DBEAFE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Finite Automaton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321040" y="3200400"/>
            <a:ext cx="1920240" cy="393192"/>
          </a:xfrm>
          <a:prstGeom prst="roundRect">
            <a:avLst/>
          </a:prstGeom>
          <a:solidFill>
            <a:srgbClr val="DBEAFE"/>
          </a:solidFill>
          <a:ln>
            <a:solidFill>
              <a:srgbClr val="DBEAFE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Criar estados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21040" y="3794760"/>
            <a:ext cx="1920240" cy="393192"/>
          </a:xfrm>
          <a:prstGeom prst="roundRect">
            <a:avLst/>
          </a:prstGeom>
          <a:solidFill>
            <a:srgbClr val="DCFCE7"/>
          </a:solidFill>
          <a:ln>
            <a:solidFill>
              <a:srgbClr val="DCFCE7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Multiple Run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61320" y="2697480"/>
            <a:ext cx="685800" cy="685800"/>
          </a:xfrm>
          <a:prstGeom prst="ellipse">
            <a:avLst/>
          </a:prstGeom>
          <a:solidFill>
            <a:srgbClr val="F59E0B"/>
          </a:solidFill>
          <a:ln w="15240">
            <a:solidFill>
              <a:srgbClr val="F59E0B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.jar</a:t>
            </a:r>
            <a:endParaRPr lang="en-US" sz="1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6510528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Msc Elionai Magalhães – Linguagens Formais e Compiladores - 35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292608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Regex em Python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85216" y="886968"/>
            <a:ext cx="7086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 prático com o módulo 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85216" y="1298448"/>
            <a:ext cx="694944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Também é possível testar expressões regulares em Python usando o módulo re. Para fins acadêmicos, escrevemos pequenos padrões e verificamos se palavras combinam. A função fullmatch é útil porque exige que o padrão reconheça a palavra inteira, não apenas um trecho.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293608" y="1938528"/>
            <a:ext cx="3017520" cy="22402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0" y="2084832"/>
            <a:ext cx="278892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re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 r"ab*"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re.fullmatch(p,"abb")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re.fullmatch(p,"ba")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49640" y="4434840"/>
            <a:ext cx="2423160" cy="384048"/>
          </a:xfrm>
          <a:prstGeom prst="roundRect">
            <a:avLst/>
          </a:prstGeom>
          <a:solidFill>
            <a:srgbClr val="DBEAFE"/>
          </a:solidFill>
          <a:ln>
            <a:solidFill>
              <a:srgbClr val="DBEAFE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fullmatch = palavra inteira</a:t>
            </a:r>
            <a:endParaRPr lang="en-US" sz="1300" dirty="0"/>
          </a:p>
        </p:txBody>
      </p:sp>
      <p:sp>
        <p:nvSpPr>
          <p:cNvPr id="10" name="Text 8">
            <a:hlinkClick r:id="rId3" tooltip="Documentação oficial do Python re"/>
          </p:cNvPr>
          <p:cNvSpPr/>
          <p:nvPr/>
        </p:nvSpPr>
        <p:spPr>
          <a:xfrm>
            <a:off x="585216" y="6053328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u="sng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tooltip="Documentação oficial do Python 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sugerido: Documentação oficial do Python re</a:t>
            </a:r>
            <a:endParaRPr lang="en-US" sz="9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6510528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Msc Elionai Magalhães – Linguagens Formais e Compiladores - 36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292608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 contemporânea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85216" y="886968"/>
            <a:ext cx="7086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Regex segura e desempenho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85216" y="1298448"/>
            <a:ext cx="694944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aplicações reais, expressões regulares podem afetar desempenho e segurança. Motores como RE2 e a biblioteca regex de Rust seguem princípios de autômatos e evitam recursos difíceis de executar eficientemente, garantindo busca em tempo linear para o conjunto de padrões suportado.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458200" y="2011680"/>
            <a:ext cx="1325880" cy="411480"/>
          </a:xfrm>
          <a:prstGeom prst="roundRect">
            <a:avLst/>
          </a:prstGeom>
          <a:solidFill>
            <a:srgbClr val="DCFCE7"/>
          </a:solidFill>
          <a:ln>
            <a:solidFill>
              <a:srgbClr val="DCFCE7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Regex segura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829800" y="2011680"/>
            <a:ext cx="1234440" cy="411480"/>
          </a:xfrm>
          <a:prstGeom prst="roundRect">
            <a:avLst/>
          </a:prstGeom>
          <a:solidFill>
            <a:srgbClr val="DBEAFE"/>
          </a:solidFill>
          <a:ln>
            <a:solidFill>
              <a:srgbClr val="DBEAFE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linear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95360" y="3017520"/>
            <a:ext cx="777240" cy="566928"/>
          </a:xfrm>
          <a:prstGeom prst="ellipse">
            <a:avLst/>
          </a:prstGeom>
          <a:solidFill>
            <a:srgbClr val="2563EB"/>
          </a:solidFill>
          <a:ln w="15240">
            <a:solidFill>
              <a:srgbClr val="2563EB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149840" y="3017520"/>
            <a:ext cx="777240" cy="566928"/>
          </a:xfrm>
          <a:prstGeom prst="ellipse">
            <a:avLst/>
          </a:prstGeom>
          <a:solidFill>
            <a:srgbClr val="F59E0B"/>
          </a:solidFill>
          <a:ln w="15240">
            <a:solidFill>
              <a:srgbClr val="F59E0B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281160" y="3300984"/>
            <a:ext cx="868680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8321040" y="4206240"/>
            <a:ext cx="301752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nem todo recurso moderno é regular</a:t>
            </a:r>
            <a:endParaRPr lang="en-US" sz="1100" dirty="0"/>
          </a:p>
        </p:txBody>
      </p:sp>
      <p:sp>
        <p:nvSpPr>
          <p:cNvPr id="13" name="Text 11">
            <a:hlinkClick r:id="rId3" tooltip="RE2 no GitHub"/>
          </p:cNvPr>
          <p:cNvSpPr/>
          <p:nvPr/>
        </p:nvSpPr>
        <p:spPr>
          <a:xfrm>
            <a:off x="585216" y="6053328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u="sng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tooltip="RE2 no GitHu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sugerido: RE2 no GitHub</a:t>
            </a:r>
            <a:endParaRPr lang="en-US" sz="9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6510528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Msc Elionai Magalhães – Linguagens Formais e Compiladores - 37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292608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Cuidados comuns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85216" y="886968"/>
            <a:ext cx="7086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Erros frequentes em exercícios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85216" y="1298448"/>
            <a:ext cx="694944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erros mais frequentes são confundir palavra vazia com linguagem vazia, esquecer estado final, interpretar a* como uma ou mais repetições e usar parênteses incorretamente. Pequenos testes costumam revelar rapidamente esses problemas antes que a solução seja considerada correta.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412480" y="2057400"/>
            <a:ext cx="868680" cy="411480"/>
          </a:xfrm>
          <a:prstGeom prst="roundRect">
            <a:avLst/>
          </a:prstGeom>
          <a:solidFill>
            <a:srgbClr val="FEE2E2"/>
          </a:solidFill>
          <a:ln>
            <a:solidFill>
              <a:srgbClr val="FEE2E2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 ≠ ∅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555480" y="2057400"/>
            <a:ext cx="1005840" cy="411480"/>
          </a:xfrm>
          <a:prstGeom prst="roundRect">
            <a:avLst/>
          </a:prstGeom>
          <a:solidFill>
            <a:srgbClr val="FEE2E2"/>
          </a:solidFill>
          <a:ln>
            <a:solidFill>
              <a:srgbClr val="FEE2E2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a* ≠ a+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698480" y="2057400"/>
            <a:ext cx="685800" cy="411480"/>
          </a:xfrm>
          <a:prstGeom prst="roundRect">
            <a:avLst/>
          </a:prstGeom>
          <a:solidFill>
            <a:srgbClr val="FEF3C7"/>
          </a:solidFill>
          <a:ln>
            <a:solidFill>
              <a:srgbClr val="FEF3C7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412480" y="3063240"/>
            <a:ext cx="914400" cy="411480"/>
          </a:xfrm>
          <a:prstGeom prst="roundRect">
            <a:avLst/>
          </a:prstGeom>
          <a:solidFill>
            <a:srgbClr val="DBEAFE"/>
          </a:solidFill>
          <a:ln>
            <a:solidFill>
              <a:srgbClr val="DBEAFE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(ab)*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573768" y="3063240"/>
            <a:ext cx="914400" cy="411480"/>
          </a:xfrm>
          <a:prstGeom prst="roundRect">
            <a:avLst/>
          </a:prstGeom>
          <a:solidFill>
            <a:srgbClr val="DBEAFE"/>
          </a:solidFill>
          <a:ln>
            <a:solidFill>
              <a:srgbClr val="DBEAFE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ab*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75320" y="4251960"/>
            <a:ext cx="310896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pequenas diferenças mudam a linguagem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6510528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Msc Elionai Magalhães – Linguagens Formais e Compiladores - 38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292608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estudar este conteúdo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85216" y="886968"/>
            <a:ext cx="7086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recomendado de aprendizagem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85216" y="1298448"/>
            <a:ext cx="694944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aprender bem, alterne teoria e prática. Primeiro descreva a linguagem em português, depois escreva exemplos aceitos e rejeitados, proponha a regex ou gramática e, por fim, construa o autômato. A validação com testes fecha o ciclo de estudo.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412480" y="1874520"/>
            <a:ext cx="1508760" cy="384048"/>
          </a:xfrm>
          <a:prstGeom prst="roundRect">
            <a:avLst/>
          </a:prstGeom>
          <a:solidFill>
            <a:srgbClr val="DBEAFE"/>
          </a:solidFill>
          <a:ln>
            <a:solidFill>
              <a:srgbClr val="DBEAFE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descrever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921240" y="2066544"/>
            <a:ext cx="457200" cy="59436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8412480" y="2468880"/>
            <a:ext cx="1508760" cy="384048"/>
          </a:xfrm>
          <a:prstGeom prst="roundRect">
            <a:avLst/>
          </a:prstGeom>
          <a:solidFill>
            <a:srgbClr val="DBEAFE"/>
          </a:solidFill>
          <a:ln>
            <a:solidFill>
              <a:srgbClr val="DBEAFE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exemplos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921240" y="2660904"/>
            <a:ext cx="457200" cy="59436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8412480" y="3063240"/>
            <a:ext cx="1508760" cy="384048"/>
          </a:xfrm>
          <a:prstGeom prst="roundRect">
            <a:avLst/>
          </a:prstGeom>
          <a:solidFill>
            <a:srgbClr val="DBEAFE"/>
          </a:solidFill>
          <a:ln>
            <a:solidFill>
              <a:srgbClr val="DBEAFE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regex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921240" y="3255264"/>
            <a:ext cx="457200" cy="59436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8412480" y="3657600"/>
            <a:ext cx="1508760" cy="384048"/>
          </a:xfrm>
          <a:prstGeom prst="roundRect">
            <a:avLst/>
          </a:prstGeom>
          <a:solidFill>
            <a:srgbClr val="DBEAFE"/>
          </a:solidFill>
          <a:ln>
            <a:solidFill>
              <a:srgbClr val="DBEAFE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autômato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921240" y="3849624"/>
            <a:ext cx="457200" cy="59436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8412480" y="4251960"/>
            <a:ext cx="1508760" cy="384048"/>
          </a:xfrm>
          <a:prstGeom prst="roundRect">
            <a:avLst/>
          </a:prstGeom>
          <a:solidFill>
            <a:srgbClr val="DCFCE7"/>
          </a:solidFill>
          <a:ln>
            <a:solidFill>
              <a:srgbClr val="DCFCE7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testar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424160" y="4297680"/>
            <a:ext cx="685800" cy="502920"/>
          </a:xfrm>
          <a:prstGeom prst="ellipse">
            <a:avLst/>
          </a:prstGeom>
          <a:solidFill>
            <a:srgbClr val="10B981"/>
          </a:solidFill>
          <a:ln w="15240">
            <a:solidFill>
              <a:srgbClr val="10B981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ok?</a:t>
            </a:r>
            <a:endParaRPr lang="en-US" sz="1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6510528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Msc Elionai Magalhães – Linguagens Formais e Compiladores - 39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292608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 da aula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85216" y="886968"/>
            <a:ext cx="7086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 para guardar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85216" y="1298448"/>
            <a:ext cx="694944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Gramáticas regulares geram linguagens, expressões regulares descrevem padrões e autômatos finitos reconhecem palavras. Esses modelos são equivalentes para linguagens regulares e formam a base da análise léxica, uma das primeiras etapas de um compilador.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93608" y="2103120"/>
            <a:ext cx="868680" cy="548640"/>
          </a:xfrm>
          <a:prstGeom prst="roundRect">
            <a:avLst/>
          </a:prstGeom>
          <a:solidFill>
            <a:srgbClr val="2563EB"/>
          </a:solidFill>
          <a:ln w="15240">
            <a:solidFill>
              <a:srgbClr val="2563EB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326880" y="2103120"/>
            <a:ext cx="1051560" cy="548640"/>
          </a:xfrm>
          <a:prstGeom prst="roundRect">
            <a:avLst/>
          </a:prstGeom>
          <a:solidFill>
            <a:srgbClr val="10B981"/>
          </a:solidFill>
          <a:ln w="15240">
            <a:solidFill>
              <a:srgbClr val="10B981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Descrever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61320" y="2103120"/>
            <a:ext cx="1143000" cy="548640"/>
          </a:xfrm>
          <a:prstGeom prst="roundRect">
            <a:avLst/>
          </a:prstGeom>
          <a:solidFill>
            <a:srgbClr val="F59E0B"/>
          </a:solidFill>
          <a:ln w="15240">
            <a:solidFill>
              <a:srgbClr val="F59E0B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Reconhecer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732520" y="2679192"/>
            <a:ext cx="960120" cy="749808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848088" y="2679192"/>
            <a:ext cx="0" cy="749808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1064240" y="2679192"/>
            <a:ext cx="0" cy="749808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9006840" y="3520440"/>
            <a:ext cx="1874520" cy="502920"/>
          </a:xfrm>
          <a:prstGeom prst="roundRect">
            <a:avLst/>
          </a:prstGeom>
          <a:solidFill>
            <a:srgbClr val="DBEAFE"/>
          </a:solidFill>
          <a:ln>
            <a:solidFill>
              <a:srgbClr val="DBEAFE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léxica</a:t>
            </a:r>
            <a:endParaRPr lang="en-US" sz="1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6510528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Msc Elionai Magalhães – Linguagens Formais e Compiladores - 40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292608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Referências e materiais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85216" y="886968"/>
            <a:ext cx="7086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Fontes usadas e materiais recomendados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6355" y="1551570"/>
            <a:ext cx="6424076" cy="2639291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Referências: material localizado na biblioteca do professor sobre linguagens formais; plano de ensino da disciplina; JFLAP oficial e tutorial de autômatos finitos; documentação Python re; guia MDN de expressões regulares; aula Stanford CS143 sobre análise léxica; RE2 e Rust regex para visão contemporânea.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93608" y="178308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93608" y="2304288"/>
            <a:ext cx="2423160" cy="347472"/>
          </a:xfrm>
          <a:prstGeom prst="roundRect">
            <a:avLst/>
          </a:prstGeom>
          <a:solidFill>
            <a:srgbClr val="DBEAFE"/>
          </a:solidFill>
          <a:ln>
            <a:solidFill>
              <a:srgbClr val="DBEAFE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JFLAP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93608" y="2871216"/>
            <a:ext cx="2423160" cy="347472"/>
          </a:xfrm>
          <a:prstGeom prst="roundRect">
            <a:avLst/>
          </a:prstGeom>
          <a:solidFill>
            <a:srgbClr val="F1F5F9"/>
          </a:solidFill>
          <a:ln>
            <a:solidFill>
              <a:srgbClr val="F1F5F9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93608" y="3438144"/>
            <a:ext cx="2423160" cy="347472"/>
          </a:xfrm>
          <a:prstGeom prst="roundRect">
            <a:avLst/>
          </a:prstGeom>
          <a:solidFill>
            <a:srgbClr val="DBEAFE"/>
          </a:solidFill>
          <a:ln>
            <a:solidFill>
              <a:srgbClr val="DBEAFE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MDN Regex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93608" y="4005072"/>
            <a:ext cx="2423160" cy="347472"/>
          </a:xfrm>
          <a:prstGeom prst="roundRect">
            <a:avLst/>
          </a:prstGeom>
          <a:solidFill>
            <a:srgbClr val="F1F5F9"/>
          </a:solidFill>
          <a:ln>
            <a:solidFill>
              <a:srgbClr val="F1F5F9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Stanford CS143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93608" y="4572000"/>
            <a:ext cx="2423160" cy="347472"/>
          </a:xfrm>
          <a:prstGeom prst="roundRect">
            <a:avLst/>
          </a:prstGeom>
          <a:solidFill>
            <a:srgbClr val="DBEAFE"/>
          </a:solidFill>
          <a:ln>
            <a:solidFill>
              <a:srgbClr val="DBEAFE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RE2/Rust regex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6510528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Msc Elionai Magalhães – Linguagens Formais e Compiladores - 40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292608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Referências e materiais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85216" y="886968"/>
            <a:ext cx="7086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Fontes usadas e materiais recomendados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93608" y="178308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93608" y="2304288"/>
            <a:ext cx="2423160" cy="347472"/>
          </a:xfrm>
          <a:prstGeom prst="roundRect">
            <a:avLst/>
          </a:prstGeom>
          <a:solidFill>
            <a:srgbClr val="DBEAFE"/>
          </a:solidFill>
          <a:ln>
            <a:solidFill>
              <a:srgbClr val="DBEAFE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JFLAP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93608" y="2871216"/>
            <a:ext cx="2423160" cy="347472"/>
          </a:xfrm>
          <a:prstGeom prst="roundRect">
            <a:avLst/>
          </a:prstGeom>
          <a:solidFill>
            <a:srgbClr val="F1F5F9"/>
          </a:solidFill>
          <a:ln>
            <a:solidFill>
              <a:srgbClr val="F1F5F9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93608" y="3438144"/>
            <a:ext cx="2423160" cy="347472"/>
          </a:xfrm>
          <a:prstGeom prst="roundRect">
            <a:avLst/>
          </a:prstGeom>
          <a:solidFill>
            <a:srgbClr val="DBEAFE"/>
          </a:solidFill>
          <a:ln>
            <a:solidFill>
              <a:srgbClr val="DBEAFE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MDN Regex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93608" y="4005072"/>
            <a:ext cx="2423160" cy="347472"/>
          </a:xfrm>
          <a:prstGeom prst="roundRect">
            <a:avLst/>
          </a:prstGeom>
          <a:solidFill>
            <a:srgbClr val="F1F5F9"/>
          </a:solidFill>
          <a:ln>
            <a:solidFill>
              <a:srgbClr val="F1F5F9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Stanford CS143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93608" y="4572000"/>
            <a:ext cx="2423160" cy="347472"/>
          </a:xfrm>
          <a:prstGeom prst="roundRect">
            <a:avLst/>
          </a:prstGeom>
          <a:solidFill>
            <a:srgbClr val="DBEAFE"/>
          </a:solidFill>
          <a:ln>
            <a:solidFill>
              <a:srgbClr val="DBEAFE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RE2/Rust regex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30936" y="1645920"/>
            <a:ext cx="6995160" cy="4325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lnSpc>
                <a:spcPct val="200000"/>
              </a:lnSpc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JFLAP: </a:t>
            </a:r>
            <a:r>
              <a:rPr lang="en-US" sz="12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https://www.jflap.org/
</a:t>
            </a:r>
            <a:r>
              <a:rPr lang="en-US" sz="1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JFLAP FA: </a:t>
            </a:r>
            <a:r>
              <a:rPr lang="en-US" sz="12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https://www.jflap.org/tutorial/fa/createfa/fa.html
</a:t>
            </a:r>
            <a:r>
              <a:rPr lang="en-US" sz="1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re: </a:t>
            </a:r>
            <a:r>
              <a:rPr lang="en-US" sz="12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https://docs.python.org/3/library/re.html
</a:t>
            </a:r>
            <a:r>
              <a:rPr lang="en-US" sz="1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HOWTO: </a:t>
            </a:r>
            <a:r>
              <a:rPr lang="en-US" sz="12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https://docs.python.org/3/howto/regex.html
</a:t>
            </a:r>
            <a:r>
              <a:rPr lang="en-US" sz="1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MDN Regex: </a:t>
            </a:r>
            <a:r>
              <a:rPr lang="en-US" sz="12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https://developer.mozilla.org/pt-BR/docs/Web/JavaScript/Guide/Regular_expressions
</a:t>
            </a:r>
            <a:r>
              <a:rPr lang="en-US" sz="1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Stanford CS143: </a:t>
            </a:r>
            <a:r>
              <a:rPr lang="en-US" sz="12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https://web.stanford.edu/class/archive/cs/cs143/cs143.1112/materials/lectures/lecture04.pdf
</a:t>
            </a:r>
            <a:r>
              <a:rPr lang="en-US" sz="1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RE2: </a:t>
            </a:r>
            <a:r>
              <a:rPr lang="en-US" sz="12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https://github.com/google/re2
</a:t>
            </a:r>
            <a:r>
              <a:rPr lang="en-US" sz="1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regex: </a:t>
            </a:r>
            <a:r>
              <a:rPr lang="en-US" sz="12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https://docs.rs/regex/latest/regex/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6792583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6166</Words>
  <Application>Microsoft Office PowerPoint</Application>
  <PresentationFormat>Widescreen</PresentationFormat>
  <Paragraphs>481</Paragraphs>
  <Slides>41</Slides>
  <Notes>41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41</vt:i4>
      </vt:variant>
    </vt:vector>
  </HeadingPairs>
  <TitlesOfParts>
    <vt:vector size="44" baseType="lpstr">
      <vt:lpstr>Arial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Multivix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Gramáticas regulares, expressões regulares e linguagens regulares</dc:title>
  <dc:subject>Linguagens Formais e Compiladores</dc:subject>
  <dc:creator>Professor Msc Elionai Magalhães</dc:creator>
  <cp:lastModifiedBy>Elionai</cp:lastModifiedBy>
  <cp:revision>2</cp:revision>
  <dcterms:created xsi:type="dcterms:W3CDTF">2026-08-20T11:05:09Z</dcterms:created>
  <dcterms:modified xsi:type="dcterms:W3CDTF">2026-08-20T14:28:05Z</dcterms:modified>
</cp:coreProperties>
</file>