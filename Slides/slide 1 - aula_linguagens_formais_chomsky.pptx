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1037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a aula conectando o tema ao plano: os dois primeiros encontros tratam de definir alfabetos, palavras, linguagens, operações sobre linguagens e classificar gramáticas e linguagens pela hierarquia de Chomsky. Reforce que a teoria será usada depois em expressões regulares, autômatos, análise léxica, análise sintática e compiladores.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os objetivos em linguagem simples. O estudante deve sair da aula sabendo ler uma definição formal básica, construir exemplos pequenos e identificar o tipo de linguagem ou gramática em casos típicos.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exemplos próximos dos estudantes: validar e-mail em um formulário, separar tokens em um compilador, reconhecer comandos de uma linguagem de consulta.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a palavra finito. Um alfabeto não é uma língua natural inteira, mas o conjunto de peças básicas com que construímos palavras.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a palavra vazia é importante em gramáticas e autômatos. Ela representa ausência de símbolo, não espaço em branco digitado.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uma linguagem formal é um conjunto de palavras aceitas. Em um compilador, a linguagem define quais programas são válidos.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Trabalhe com conjuntos pequenos para evitar sobrecarga cognitiva. Peça que a turma calcule AB antes de mostrar a resposta.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que representação não é o mesmo que linguagem: diferentes descrições podem representar a mesma linguagem.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gramática como máquina de gerar frases. Depois conecte à classificação de Chomsky: a forma das regras determina a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metáfora de “caixas dentro de caixas”: toda linguagem regular é livre de contexto, mas nem toda livre de contexto é regular.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Conecte a tokens de linguagens de programação: identificadores, números inteiros, espaços em branco e operadores podem ser reconhecidos por autômatos finitos.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Diferencie de regular: contar quantidades correspondentes exige memória não limitada por estados finitos; a pilha resolve esse padrão.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entre em prova formal. O objetivo é perceber que a linguagem exige sincronizar três contagens, algo além do poder livre de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 diferença intuitiva entre reconhecer e decidir: reconhecer aceita quando pertence; decidir sempre para com sim ou não.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tabela como síntese visual. Reforce que a classificação depende das regras e do poder do reconhecedor.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a ponte direta com compiladores. Mostre que teoria formal vira técnica prática: primeiro separar tokens, depois verificar a estrutura do programa.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tempo real para tentativa antes de mostrar o gabarito. Circule pela sala e observe dúvidas sobre palavra vazia, concatenação e classificação.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Comente cada item. Destaque que a gramática S → aSb | ε gera ε, ab, aabb, aaabbb etc. Reforce a transição para a próxima aula do cronograma.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flap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pt-BR/docs/Web/JavaScript/Guide/Regular_expression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ritannica.com/science/formal-languag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nesoacademy/search?query=formal%20languages%20automata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flap.org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org/details/introductiontoau00hopc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results?search_query=Computerphile+Regular+Expression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flap.org/tutorial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homsky_hierarch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regex101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results?search_query=Neso+Academy+context+free+grammar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o.stanford.edu/entries/computability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lato.stanford.edu/entries/computability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homsky_hierarchy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flap.org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flap.org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Linguagens Formais e Compiladores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85800" y="1600200"/>
            <a:ext cx="64922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8E0E0E"/>
                </a:solidFill>
              </a:rPr>
              <a:t>Alfabetos, Palavras, Linguagens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8E0E0E"/>
                </a:solidFill>
              </a:rPr>
              <a:t>e Hierarquia de Chomsky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26680" y="1325880"/>
            <a:ext cx="1097280" cy="1097280"/>
          </a:xfrm>
          <a:prstGeom prst="roundRect">
            <a:avLst>
              <a:gd name="adj" fmla="val 6667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99832" y="1371600"/>
            <a:ext cx="95097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71C1C"/>
                </a:solidFill>
              </a:rPr>
              <a:t>Σ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9052560" y="1965960"/>
            <a:ext cx="1097280" cy="1097280"/>
          </a:xfrm>
          <a:prstGeom prst="roundRect">
            <a:avLst>
              <a:gd name="adj" fmla="val 6667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25712" y="2011680"/>
            <a:ext cx="95097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565C0"/>
                </a:solidFill>
              </a:rPr>
              <a:t>w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7543800" y="3063240"/>
            <a:ext cx="1097280" cy="1097280"/>
          </a:xfrm>
          <a:prstGeom prst="roundRect">
            <a:avLst>
              <a:gd name="adj" fmla="val 6667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16952" y="3108960"/>
            <a:ext cx="95097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D32"/>
                </a:solidFill>
              </a:rPr>
              <a:t>L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9784080" y="3886200"/>
            <a:ext cx="1097280" cy="1097280"/>
          </a:xfrm>
          <a:prstGeom prst="roundRect">
            <a:avLst>
              <a:gd name="adj" fmla="val 6667"/>
            </a:avLst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57232" y="3931920"/>
            <a:ext cx="95097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9A825"/>
                </a:solidFill>
              </a:rPr>
              <a:t>G</a:t>
            </a:r>
            <a:endParaRPr lang="en-US" sz="3400" dirty="0"/>
          </a:p>
        </p:txBody>
      </p:sp>
      <p:sp>
        <p:nvSpPr>
          <p:cNvPr id="14" name="Text 12">
            <a:hlinkClick r:id="rId3"/>
          </p:cNvPr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i="1" u="sng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Exemplo/Link: JFLAP — ferramenta para experimentar gramáticas e autômatos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8E0E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da aula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20140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56692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alfabeto, palavra, linguagem e operações sobre linguagens.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Representar linguagens por enumeração, propriedade ou expressão formal.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o papel das gramáticas como geradoras de linguagens.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Classificar gramáticas e linguagens segundo a Hierarquia de Chomsky.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132320" y="1417320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05472" y="1463040"/>
            <a:ext cx="360273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0E0E"/>
                </a:solidFill>
              </a:rPr>
              <a:t>Do símbolo à linguagem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006840" y="2039112"/>
            <a:ext cx="0" cy="411480"/>
          </a:xfrm>
          <a:prstGeom prst="line">
            <a:avLst/>
          </a:prstGeom>
          <a:noFill/>
          <a:ln w="15240">
            <a:solidFill>
              <a:srgbClr val="4A4A4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132320" y="2514600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05472" y="2560320"/>
            <a:ext cx="360273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65C0"/>
                </a:solidFill>
              </a:rPr>
              <a:t>Da linguagem ao reconhecedor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006840" y="3136392"/>
            <a:ext cx="0" cy="411480"/>
          </a:xfrm>
          <a:prstGeom prst="line">
            <a:avLst/>
          </a:prstGeom>
          <a:noFill/>
          <a:ln w="1524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132320" y="3611880"/>
            <a:ext cx="3749040" cy="594360"/>
          </a:xfrm>
          <a:prstGeom prst="roundRect">
            <a:avLst>
              <a:gd name="adj" fmla="val 12308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5472" y="3657600"/>
            <a:ext cx="360273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</a:rPr>
              <a:t>Da gramática ao compilador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Exemplo/Link: Plano de ensino: objetivos e conteúdos iniciais da disciplina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8E0E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que isso importa?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20140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56692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pt-BR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Compiladores precisam reconhecer tokens, comandos e estruturas de programas.</a:t>
            </a:r>
            <a:endParaRPr lang="pt-BR" sz="2200" dirty="0"/>
          </a:p>
          <a:p>
            <a:pPr algn="just">
              <a:lnSpc>
                <a:spcPct val="150000"/>
              </a:lnSpc>
            </a:pPr>
            <a:r>
              <a:rPr lang="pt-BR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 de entradas usa padrões: e-mail, CPF, datas, logs, identificadores.</a:t>
            </a:r>
            <a:endParaRPr lang="pt-BR" sz="2200" dirty="0"/>
          </a:p>
          <a:p>
            <a:pPr algn="just">
              <a:lnSpc>
                <a:spcPct val="150000"/>
              </a:lnSpc>
            </a:pPr>
            <a:r>
              <a:rPr lang="pt-BR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Protocolos, consultas SQL e formatos de arquivo seguem regras formais.</a:t>
            </a:r>
            <a:endParaRPr lang="pt-BR" sz="2200" dirty="0"/>
          </a:p>
          <a:p>
            <a:pPr algn="just">
              <a:lnSpc>
                <a:spcPct val="150000"/>
              </a:lnSpc>
            </a:pPr>
            <a:r>
              <a:rPr lang="pt-BR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teoria ajuda a saber o que pode ser reconhecido por cada modelo computacional</a:t>
            </a: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949440" y="123444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22592" y="1280160"/>
            <a:ext cx="149961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E0E0E"/>
                </a:solidFill>
              </a:rPr>
              <a:t>Código-fonte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823960" y="12344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97112" y="1280160"/>
            <a:ext cx="11338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</a:rPr>
              <a:t>Tokens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195560" y="123444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68712" y="1280160"/>
            <a:ext cx="95097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</a:rPr>
              <a:t>Árvore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13648" y="1481328"/>
            <a:ext cx="164592" cy="0"/>
          </a:xfrm>
          <a:prstGeom prst="line">
            <a:avLst/>
          </a:prstGeom>
          <a:noFill/>
          <a:ln w="1524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058400" y="1481328"/>
            <a:ext cx="109728" cy="0"/>
          </a:xfrm>
          <a:prstGeom prst="line">
            <a:avLst/>
          </a:prstGeom>
          <a:noFill/>
          <a:ln w="1524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040880" y="201168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</a:rPr>
              <a:t>Ex.: if (x &gt; 0)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</a:rPr>
              <a:t>→ palavras reservadas,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</a:rPr>
              <a:t>identificadores e símbolos</a:t>
            </a:r>
            <a:endParaRPr lang="en-US" sz="1800" dirty="0"/>
          </a:p>
        </p:txBody>
      </p:sp>
      <p:sp>
        <p:nvSpPr>
          <p:cNvPr id="14" name="Text 12">
            <a:hlinkClick r:id="rId3"/>
          </p:cNvPr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i="1" u="sng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Exemplo/Link: Exemplo real: expressões regulares em documentação Mozilla MDN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8E0E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Alfabeto: conjunto finito de símbolos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20140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56692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 alfabeto é um conjunto finito e não vazio de símbolos.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Notação comum: Σ = {a, b} ou Σ = {0, 1}.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Símbolos não têm significado obrigatório: o significado depende do problema.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computação, alfabetos podem representar bits, caracteres, tokens ou eventos.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0" y="137160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88352" y="1417320"/>
            <a:ext cx="31455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E0E0E"/>
                </a:solidFill>
              </a:rPr>
              <a:t>Σ = {0,1}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766560" y="251460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39712" y="2560320"/>
            <a:ext cx="9509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65C0"/>
                </a:solidFill>
              </a:rPr>
              <a:t>bits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183880" y="2514600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7032" y="2560320"/>
            <a:ext cx="11338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7D32"/>
                </a:solidFill>
              </a:rPr>
              <a:t>letras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829800" y="25146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02952" y="2560320"/>
            <a:ext cx="12252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9A825"/>
                </a:solidFill>
              </a:rPr>
              <a:t>tokens</a:t>
            </a:r>
            <a:endParaRPr lang="en-US" sz="1700" dirty="0"/>
          </a:p>
        </p:txBody>
      </p:sp>
      <p:sp>
        <p:nvSpPr>
          <p:cNvPr id="13" name="Text 11">
            <a:hlinkClick r:id="rId3"/>
          </p:cNvPr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i="1" u="sng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Exemplo/Link: Leitura: “formal language” na Encyclopaedia Britannica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8E0E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Palavras, tamanho e palavra vazia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20140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56692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palavra é uma sequência finita de símbolos de Σ.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tamanho de w é indicado por |w|.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ε representa a palavra vazia: sequência de comprimento zero.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Σ* é o conjunto de todas as palavras possíveis sobre Σ, incluindo ε.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949440" y="123444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22592" y="1280160"/>
            <a:ext cx="186537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E0E0E"/>
                </a:solidFill>
              </a:rPr>
              <a:t>Σ = {a,b}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235440" y="12344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08592" y="1280160"/>
            <a:ext cx="168249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</a:rPr>
              <a:t>w = abba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132320" y="21488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</a:rPr>
              <a:t>|abba| = 4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</a:rPr>
              <a:t>|ε| = 0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</a:rPr>
              <a:t>Σ* = {ε, a, b, aa, ab, ...}</a:t>
            </a:r>
            <a:endParaRPr lang="en-US" sz="220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i="1" u="sng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Exemplo/Link: Vídeo sugerido: Neso Academy — Formal Languages and Automata Theory playlist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8E0E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Linguagem formal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20140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56692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linguagem é qualquer subconjunto de Σ*.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 ser finita ou infinita.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Pode ser definida por lista, propriedade, expressão regular, gramática ou autômato.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Ex.: L = { w ∈ {0,1}* | w termina em 01 }.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223760" y="1371600"/>
            <a:ext cx="3657600" cy="2194560"/>
          </a:xfrm>
          <a:prstGeom prst="roundRect">
            <a:avLst>
              <a:gd name="adj" fmla="val 3333"/>
            </a:avLst>
          </a:prstGeom>
          <a:solidFill>
            <a:srgbClr val="F7F7F7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96912" y="1417320"/>
            <a:ext cx="3511296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4A4A"/>
                </a:solidFill>
              </a:rPr>
              <a:t>Σ*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8229600" y="1828800"/>
            <a:ext cx="1645920" cy="1097280"/>
          </a:xfrm>
          <a:prstGeom prst="roundRect">
            <a:avLst>
              <a:gd name="adj" fmla="val 6667"/>
            </a:avLst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02752" y="1874520"/>
            <a:ext cx="149961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565C0"/>
                </a:solidFill>
              </a:rPr>
              <a:t>L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321040" y="3794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</a:rPr>
              <a:t>L ⊆ Σ*</a:t>
            </a:r>
            <a:endParaRPr lang="en-US" sz="200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i="1" u="sng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Exemplo/Link: Ferramenta: JFLAP para testar linguagens, gramáticas e autômatos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8E0E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Operações sobre linguagens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20140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56692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União: L₁ ∪ L₂ contém palavras de L₁ ou L₂.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Concatenação: L₁L₂ = {xy | x ∈ L₁ e y ∈ L₂}.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Potência: L² = LL; L⁰ = {ε}.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Fecho de Kleene: L* = L⁰ ∪ L¹ ∪ L² ∪ ...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280160"/>
            <a:ext cx="4389120" cy="2468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</a:rPr>
              <a:t>Exemplo rápido: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</a:rPr>
              <a:t>A = {a,b}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</a:rPr>
              <a:t>B = {0}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</a:rPr>
              <a:t>AB = {a0,b0}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</a:rPr>
              <a:t>A* = {ε,a,b,aa,ab,...}</a:t>
            </a:r>
            <a:endParaRPr lang="en-US" sz="2200" dirty="0"/>
          </a:p>
        </p:txBody>
      </p:sp>
      <p:sp>
        <p:nvSpPr>
          <p:cNvPr id="6" name="Text 4">
            <a:hlinkClick r:id="rId3"/>
          </p:cNvPr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i="1" u="sng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Exemplo/Link: Referência: Hopcroft, Motwani e Ullman — Introduction to Automata Theory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8E0E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Representando uma linguagem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20140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56692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enumeração: L = {a, ab, abb}.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propriedade: L = {aⁿbⁿ | n ≥ 0}.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expressão regular: (a|b)*01.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gramática: regras que geram as palavras da linguagem.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903720" y="114300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76872" y="1188720"/>
            <a:ext cx="108813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E0E0E"/>
                </a:solidFill>
              </a:rPr>
              <a:t>Lista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21040" y="1143000"/>
            <a:ext cx="1737360" cy="502920"/>
          </a:xfrm>
          <a:prstGeom prst="roundRect">
            <a:avLst>
              <a:gd name="adj" fmla="val 14545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94192" y="1188720"/>
            <a:ext cx="15910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</a:rPr>
              <a:t>Propriedade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241280" y="11430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14432" y="1188720"/>
            <a:ext cx="122529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</a:rPr>
              <a:t>Gramática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06640" y="219456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A4A4A"/>
                </a:solidFill>
              </a:rPr>
              <a:t>Mesmo conjunto,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4A4A4A"/>
                </a:solidFill>
              </a:rPr>
              <a:t>diferentes formas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4A4A4A"/>
                </a:solidFill>
              </a:rPr>
              <a:t>de descrição.</a:t>
            </a:r>
            <a:endParaRPr lang="en-US" sz="2400" dirty="0"/>
          </a:p>
        </p:txBody>
      </p:sp>
      <p:sp>
        <p:nvSpPr>
          <p:cNvPr id="12" name="Text 10">
            <a:hlinkClick r:id="rId3"/>
          </p:cNvPr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i="1" u="sng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Exemplo/Link: Vídeo sugerido: “Regular Expressions” — Computerphile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8E0E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Gramática formal: ideia central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20140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56692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gramática G = (V, Σ, P, S).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V: variáveis ou não terminais; Σ: terminais.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P: produções ou regras de reescrita.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S: símbolo inicial.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linguagem gerada por G reúne todas as palavras terminais deriváveis de 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589520" y="1325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E0E0E"/>
                </a:solidFill>
              </a:rPr>
              <a:t>S → aS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8E0E0E"/>
                </a:solidFill>
              </a:rPr>
              <a:t>S → b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949440" y="274320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</a:rPr>
              <a:t>Derivação: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</a:rPr>
              <a:t>S ⇒ aS ⇒ aaS ⇒ aab</a:t>
            </a:r>
            <a:endParaRPr lang="en-US" sz="2200" dirty="0"/>
          </a:p>
        </p:txBody>
      </p:sp>
      <p:sp>
        <p:nvSpPr>
          <p:cNvPr id="7" name="Text 5">
            <a:hlinkClick r:id="rId3"/>
          </p:cNvPr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i="1" u="sng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Exemplo/Link: Leitura: JFLAP — conteúdos sobre gramáticas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8E0E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Hierarquia de Chomsky: visão geral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20140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56692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 linguagens pela forma das regras gramaticais.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Quanto menos restrita a gramática, maior o poder expressivo.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classe está associada a modelos de reconhecimento.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Inclusão típica: Regular ⊂ Livre de Contexto ⊂ Sensível ao Contexto ⊂ Recursivamente Enumerável.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0" y="1051560"/>
            <a:ext cx="3291840" cy="685800"/>
          </a:xfrm>
          <a:prstGeom prst="roundRect">
            <a:avLst>
              <a:gd name="adj" fmla="val 10667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71232" y="1097280"/>
            <a:ext cx="314553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E0E0E"/>
                </a:solidFill>
              </a:rPr>
              <a:t>Tipo 0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8E0E0E"/>
                </a:solidFill>
              </a:rPr>
              <a:t>Rec. enumeráveis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26680" y="1874520"/>
            <a:ext cx="2834640" cy="685800"/>
          </a:xfrm>
          <a:prstGeom prst="roundRect">
            <a:avLst>
              <a:gd name="adj" fmla="val 10667"/>
            </a:avLst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99832" y="1920240"/>
            <a:ext cx="268833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A825"/>
                </a:solidFill>
              </a:rPr>
              <a:t>Tipo 1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9A825"/>
                </a:solidFill>
              </a:rPr>
              <a:t>Sensíveis ao contexto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01000" y="2697480"/>
            <a:ext cx="2286000" cy="685800"/>
          </a:xfrm>
          <a:prstGeom prst="roundRect">
            <a:avLst>
              <a:gd name="adj" fmla="val 10667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74152" y="2743200"/>
            <a:ext cx="213969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</a:rPr>
              <a:t>Tipo 2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</a:rPr>
              <a:t>Livres de contexto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21040" y="352044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4192" y="3566160"/>
            <a:ext cx="149961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</a:rPr>
              <a:t>Tipo 3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</a:rPr>
              <a:t>Regulares</a:t>
            </a:r>
            <a:endParaRPr lang="en-US" sz="1600" dirty="0"/>
          </a:p>
        </p:txBody>
      </p:sp>
      <p:sp>
        <p:nvSpPr>
          <p:cNvPr id="13" name="Text 11">
            <a:hlinkClick r:id="rId3"/>
          </p:cNvPr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i="1" u="sng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Exemplo/Link: Referência: Chomsky hierarchy — visão resumida e modelos reconhecedores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8E0E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 3: linguagens regulares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20140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56692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Gramáticas regulares têm regras lineares simples.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Reconhecidas por autômatos finitos.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Representáveis por expressões regulares.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Ótimas para padrões locais e análise léxica.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858000" y="128016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11111"/>
                </a:solidFill>
              </a:rPr>
              <a:t>L = { w ∈ {0,1}* | w termina em 01 }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11111"/>
                </a:solidFill>
              </a:rPr>
              <a:t>Regex: (0|1)*01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498080" y="283464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71232" y="2880360"/>
            <a:ext cx="4937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</a:rPr>
              <a:t>q0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32520" y="283464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05672" y="2880360"/>
            <a:ext cx="4937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65C0"/>
                </a:solidFill>
              </a:rPr>
              <a:t>q1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966960" y="283464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40112" y="2880360"/>
            <a:ext cx="49377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7D32"/>
                </a:solidFill>
              </a:rPr>
              <a:t>q2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56448" y="3063240"/>
            <a:ext cx="530352" cy="0"/>
          </a:xfrm>
          <a:prstGeom prst="line">
            <a:avLst/>
          </a:prstGeom>
          <a:noFill/>
          <a:ln w="1524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321040" y="283464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90888" y="3063240"/>
            <a:ext cx="530352" cy="0"/>
          </a:xfrm>
          <a:prstGeom prst="line">
            <a:avLst/>
          </a:prstGeom>
          <a:noFill/>
          <a:ln w="1524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555480" y="283464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</a:rPr>
              <a:t>1</a:t>
            </a:r>
            <a:endParaRPr lang="en-US" sz="1200" dirty="0"/>
          </a:p>
        </p:txBody>
      </p:sp>
      <p:sp>
        <p:nvSpPr>
          <p:cNvPr id="16" name="Text 14">
            <a:hlinkClick r:id="rId3"/>
          </p:cNvPr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i="1" u="sng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Exemplo/Link: Ferramenta prática: regex101 para testar expressões regulares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8E0E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 2: linguagens livres de contexto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20140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56692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Regras têm um único não terminal à esquerda: A → α.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Reconhecidas por autômatos com pilha.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Modelam estruturas aninhadas: parênteses, blocos, expressões.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Muito usadas na análise sintática de compiladores.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040880" y="1234440"/>
            <a:ext cx="40233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8E0E0E"/>
                </a:solidFill>
              </a:rPr>
              <a:t>L = { aⁿbⁿ | n ≥ 0 }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8E0E0E"/>
                </a:solidFill>
              </a:rPr>
              <a:t>S → aSb | ε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040880" y="28346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</a:rPr>
              <a:t>A pilha “lembra” quantos a foram lidos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</a:rPr>
              <a:t>para comparar com os b.</a:t>
            </a:r>
            <a:endParaRPr lang="en-US" sz="2000" dirty="0"/>
          </a:p>
        </p:txBody>
      </p:sp>
      <p:sp>
        <p:nvSpPr>
          <p:cNvPr id="7" name="Text 5">
            <a:hlinkClick r:id="rId3"/>
          </p:cNvPr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i="1" u="sng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Exemplo/Link: Vídeo sugerido: “Context Free Grammar” — Neso Academy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8E0E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 1: linguagens sensíveis ao contexto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20140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56692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regras podem depender do contexto ao redor do símbolo reescrito.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Geralmente não diminuem o tamanho da palavra gerada.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Reconhecidas por autômatos linearmente limitados.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Expressam dependências mais fortes que as livres de contexto.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223760" y="14630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9A825"/>
                </a:solidFill>
              </a:rPr>
              <a:t>Exemplo clássico: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9A825"/>
                </a:solidFill>
              </a:rPr>
              <a:t>L = { aⁿbⁿcⁿ | n ≥ 1 }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223760" y="274320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111111"/>
                </a:solidFill>
              </a:rPr>
              <a:t>Precisa relacionar três blocos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111111"/>
                </a:solidFill>
              </a:rPr>
              <a:t>com a mesma quantidade.</a:t>
            </a:r>
            <a:endParaRPr lang="en-US" sz="2100" dirty="0"/>
          </a:p>
        </p:txBody>
      </p:sp>
      <p:sp>
        <p:nvSpPr>
          <p:cNvPr id="7" name="Text 5">
            <a:hlinkClick r:id="rId3"/>
          </p:cNvPr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i="1" u="sng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Exemplo/Link: Leitura: contexto e hierarquia em Foundations of Computer Science / materiais acadêmicos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8E0E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Tipo 0: linguagens recursivamente enumeráveis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20140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56692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Gramáticas irrestritas: regras com poucas restrições formais.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Reconhecidas por máquinas de Turing.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Maior poder expressivo da hierarquia clássica.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 sempre há garantia de parada para palavras fora da linguagem.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995160" y="141732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68312" y="1463040"/>
            <a:ext cx="113385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E0E0E"/>
                </a:solidFill>
              </a:rPr>
              <a:t>Entrada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02752" y="1673352"/>
            <a:ext cx="45720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823960" y="123444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97112" y="1280160"/>
            <a:ext cx="140817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</a:rPr>
              <a:t>Máquina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</a:rPr>
              <a:t>de Turing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405872" y="1673352"/>
            <a:ext cx="457200" cy="0"/>
          </a:xfrm>
          <a:prstGeom prst="line">
            <a:avLst/>
          </a:prstGeom>
          <a:noFill/>
          <a:ln w="1397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0927080" y="1234440"/>
            <a:ext cx="1097280" cy="868680"/>
          </a:xfrm>
          <a:prstGeom prst="roundRect">
            <a:avLst>
              <a:gd name="adj" fmla="val 8421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00232" y="1280160"/>
            <a:ext cx="95097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</a:rPr>
              <a:t>Aceita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</a:rPr>
              <a:t>ou continua</a:t>
            </a:r>
            <a:endParaRPr lang="en-US" sz="1400" dirty="0"/>
          </a:p>
        </p:txBody>
      </p:sp>
      <p:sp>
        <p:nvSpPr>
          <p:cNvPr id="13" name="Text 11">
            <a:hlinkClick r:id="rId3"/>
          </p:cNvPr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i="1" u="sng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Exemplo/Link: Leitura: Stanford Encyclopedia of Philosophy — computability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8E0E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Resumo comparativo da hierarquia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20140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56692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 3: padrões regulares e tokens.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 2: estruturas aninhadas e sintaxe.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 1: dependências contextuais mais complexas.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Tipo 0: computação geral por máquina de Turing.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46520" y="1143000"/>
            <a:ext cx="971093" cy="621792"/>
          </a:xfrm>
          <a:prstGeom prst="rect">
            <a:avLst/>
          </a:prstGeom>
          <a:solidFill>
            <a:srgbClr val="B71C1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83096" y="1179576"/>
            <a:ext cx="897941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Tipo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17613" y="1143000"/>
            <a:ext cx="1564538" cy="621792"/>
          </a:xfrm>
          <a:prstGeom prst="rect">
            <a:avLst/>
          </a:prstGeom>
          <a:solidFill>
            <a:srgbClr val="B71C1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54189" y="1179576"/>
            <a:ext cx="149138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Linguagem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82151" y="1143000"/>
            <a:ext cx="1456639" cy="621792"/>
          </a:xfrm>
          <a:prstGeom prst="rect">
            <a:avLst/>
          </a:prstGeom>
          <a:solidFill>
            <a:srgbClr val="B71C1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18727" y="1179576"/>
            <a:ext cx="1383487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Reconhecedor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438790" y="1143000"/>
            <a:ext cx="1402690" cy="621792"/>
          </a:xfrm>
          <a:prstGeom prst="rect">
            <a:avLst/>
          </a:prstGeom>
          <a:solidFill>
            <a:srgbClr val="B71C1C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75366" y="1179576"/>
            <a:ext cx="1329538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Exemplo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46520" y="1764792"/>
            <a:ext cx="971093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3096" y="1801368"/>
            <a:ext cx="897941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11111"/>
                </a:solidFill>
              </a:rPr>
              <a:t>3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7417613" y="1764792"/>
            <a:ext cx="1564538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4189" y="1801368"/>
            <a:ext cx="149138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11111"/>
                </a:solidFill>
              </a:rPr>
              <a:t>Regular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8982151" y="1764792"/>
            <a:ext cx="1456639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18727" y="1801368"/>
            <a:ext cx="1383487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11111"/>
                </a:solidFill>
              </a:rPr>
              <a:t>Autômato finito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10438790" y="1764792"/>
            <a:ext cx="140269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75366" y="1801368"/>
            <a:ext cx="1329538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11111"/>
                </a:solidFill>
              </a:rPr>
              <a:t>(a|b)*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446520" y="2386584"/>
            <a:ext cx="971093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83096" y="2423160"/>
            <a:ext cx="897941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11111"/>
                </a:solidFill>
              </a:rPr>
              <a:t>2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7417613" y="2386584"/>
            <a:ext cx="1564538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4189" y="2423160"/>
            <a:ext cx="149138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11111"/>
                </a:solidFill>
              </a:rPr>
              <a:t>Livre de contexto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8982151" y="2386584"/>
            <a:ext cx="1456639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18727" y="2423160"/>
            <a:ext cx="1383487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11111"/>
                </a:solidFill>
              </a:rPr>
              <a:t>Autômato com pilha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10438790" y="2386584"/>
            <a:ext cx="1402690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75366" y="2423160"/>
            <a:ext cx="1329538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11111"/>
                </a:solidFill>
              </a:rPr>
              <a:t>aⁿbⁿ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6446520" y="3008376"/>
            <a:ext cx="971093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83096" y="3044952"/>
            <a:ext cx="897941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11111"/>
                </a:solidFill>
              </a:rPr>
              <a:t>1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7417613" y="3008376"/>
            <a:ext cx="1564538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4189" y="3044952"/>
            <a:ext cx="149138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11111"/>
                </a:solidFill>
              </a:rPr>
              <a:t>Sensível ao contexto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8982151" y="3008376"/>
            <a:ext cx="1456639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18727" y="3044952"/>
            <a:ext cx="1383487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11111"/>
                </a:solidFill>
              </a:rPr>
              <a:t>Linear limitado</a:t>
            </a:r>
            <a:endParaRPr lang="en-US" sz="1220" dirty="0"/>
          </a:p>
        </p:txBody>
      </p:sp>
      <p:sp>
        <p:nvSpPr>
          <p:cNvPr id="35" name="Shape 33"/>
          <p:cNvSpPr/>
          <p:nvPr/>
        </p:nvSpPr>
        <p:spPr>
          <a:xfrm>
            <a:off x="10438790" y="3008376"/>
            <a:ext cx="140269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75366" y="3044952"/>
            <a:ext cx="1329538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11111"/>
                </a:solidFill>
              </a:rPr>
              <a:t>aⁿbⁿcⁿ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6446520" y="3630168"/>
            <a:ext cx="971093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83096" y="3666744"/>
            <a:ext cx="897941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11111"/>
                </a:solidFill>
              </a:rPr>
              <a:t>0</a:t>
            </a:r>
            <a:endParaRPr lang="en-US" sz="1220" dirty="0"/>
          </a:p>
        </p:txBody>
      </p:sp>
      <p:sp>
        <p:nvSpPr>
          <p:cNvPr id="39" name="Shape 37"/>
          <p:cNvSpPr/>
          <p:nvPr/>
        </p:nvSpPr>
        <p:spPr>
          <a:xfrm>
            <a:off x="7417613" y="3630168"/>
            <a:ext cx="1564538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54189" y="3666744"/>
            <a:ext cx="149138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11111"/>
                </a:solidFill>
              </a:rPr>
              <a:t>Rec. enumerável</a:t>
            </a:r>
            <a:endParaRPr lang="en-US" sz="1220" dirty="0"/>
          </a:p>
        </p:txBody>
      </p:sp>
      <p:sp>
        <p:nvSpPr>
          <p:cNvPr id="41" name="Shape 39"/>
          <p:cNvSpPr/>
          <p:nvPr/>
        </p:nvSpPr>
        <p:spPr>
          <a:xfrm>
            <a:off x="8982151" y="3630168"/>
            <a:ext cx="1456639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18727" y="3666744"/>
            <a:ext cx="1383487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11111"/>
                </a:solidFill>
              </a:rPr>
              <a:t>Máquina de Turing</a:t>
            </a:r>
            <a:endParaRPr lang="en-US" sz="1220" dirty="0"/>
          </a:p>
        </p:txBody>
      </p:sp>
      <p:sp>
        <p:nvSpPr>
          <p:cNvPr id="43" name="Shape 41"/>
          <p:cNvSpPr/>
          <p:nvPr/>
        </p:nvSpPr>
        <p:spPr>
          <a:xfrm>
            <a:off x="10438790" y="3630168"/>
            <a:ext cx="1402690" cy="621792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475366" y="3666744"/>
            <a:ext cx="1329538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11111"/>
                </a:solidFill>
              </a:rPr>
              <a:t>problemas gerais</a:t>
            </a:r>
            <a:endParaRPr lang="en-US" sz="1220" dirty="0"/>
          </a:p>
        </p:txBody>
      </p:sp>
      <p:sp>
        <p:nvSpPr>
          <p:cNvPr id="45" name="Text 43">
            <a:hlinkClick r:id="rId3"/>
          </p:cNvPr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i="1" u="sng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Exemplo/Link: Referência-base: tabela clássica da Hierarquia de Chomsky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8E0E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Aplicação prática: mini linguagem de comandos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20140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56692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Comando válido: move(10); turn(left); move(5);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Tokens: nomes, números, parênteses, vírgulas e ponto e vírgula.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Sintaxe: sequência de comandos bem formados.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Classificação: tokens são regulares; estrutura de comandos pode ser livre de contexto.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949440" y="1188720"/>
            <a:ext cx="402336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8E0E0E"/>
                </a:solidFill>
              </a:rPr>
              <a:t>move(10);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8E0E0E"/>
                </a:solidFill>
              </a:rPr>
              <a:t>turn(left);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8E0E0E"/>
                </a:solidFill>
              </a:rPr>
              <a:t>move(5);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961120" y="2514600"/>
            <a:ext cx="0" cy="411480"/>
          </a:xfrm>
          <a:prstGeom prst="line">
            <a:avLst/>
          </a:prstGeom>
          <a:noFill/>
          <a:ln w="1524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315200" y="301752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88352" y="3063240"/>
            <a:ext cx="314553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565C0"/>
                </a:solidFill>
              </a:rPr>
              <a:t>Analisador léxico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0" y="370332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88352" y="3749040"/>
            <a:ext cx="314553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7D32"/>
                </a:solidFill>
              </a:rPr>
              <a:t>Analisador sintático</a:t>
            </a:r>
            <a:endParaRPr lang="en-US" sz="1700" dirty="0"/>
          </a:p>
        </p:txBody>
      </p:sp>
      <p:sp>
        <p:nvSpPr>
          <p:cNvPr id="11" name="Text 9">
            <a:hlinkClick r:id="rId3"/>
          </p:cNvPr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i="1" u="sng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Exemplo/Link: Sugestão: usar JFLAP ou regex101 para testar padrões simples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8E0E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Exercício de fixação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20140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56692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Considere Σ = {a, b}.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L₁ = { w ∈ Σ* | w termina em b }.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L₂ = { aⁿbⁿ | n ≥ 0 }.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Responda: (1) dê 3 palavras de L₁; (2) calcule {a,b}{b}; (3) classifique L₁ e L₂ na Hierarquia de Chomsky; (4) escreva uma gramática para L₂.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0" y="128016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71232" y="1325880"/>
            <a:ext cx="131673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A825"/>
                </a:solidFill>
              </a:rPr>
              <a:t>5 min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6949440" y="2377440"/>
            <a:ext cx="3474720" cy="685800"/>
          </a:xfrm>
          <a:prstGeom prst="roundRect">
            <a:avLst>
              <a:gd name="adj" fmla="val 10667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22592" y="2423160"/>
            <a:ext cx="3328416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65C0"/>
                </a:solidFill>
              </a:rPr>
              <a:t>Depois: discussão em dupla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Exemplo/Link: Atividade: resolver individualmente em 5 minutos e discutir em dupla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2014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8E0E0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Gabarito comentado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859536"/>
            <a:ext cx="11201400" cy="0"/>
          </a:xfrm>
          <a:prstGeom prst="line">
            <a:avLst/>
          </a:prstGeom>
          <a:noFill/>
          <a:ln w="19050">
            <a:solidFill>
              <a:srgbClr val="B7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56692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L₁: exemplos possíveis: b, ab, aab, bbb; todos terminam em b.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{a,b}{b} = {ab, bb}.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L₁ é regular: pode ser reconhecida por autômato finito ou regex (a|b)*b.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L₂ é livre de contexto: exige parear a quantidade de a e b.</a:t>
            </a: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Gramática para L₂: S → aSb | ε.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040880" y="132588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4032" y="1371600"/>
            <a:ext cx="149961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</a:rPr>
              <a:t>Regular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052560" y="132588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25712" y="1371600"/>
            <a:ext cx="2139696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7D32"/>
                </a:solidFill>
              </a:rPr>
              <a:t>Livre de contexto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223760" y="25603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0E0E"/>
                </a:solidFill>
              </a:rPr>
              <a:t>Próximo passo: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8E0E0E"/>
                </a:solidFill>
              </a:rPr>
              <a:t>gramáticas regulares e expressões regulares</a:t>
            </a:r>
            <a:endParaRPr lang="en-US" sz="2200" dirty="0"/>
          </a:p>
        </p:txBody>
      </p:sp>
      <p:sp>
        <p:nvSpPr>
          <p:cNvPr id="10" name="Text 8">
            <a:hlinkClick r:id="rId3"/>
          </p:cNvPr>
          <p:cNvSpPr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i="1" u="sng" dirty="0">
                <a:solidFill>
                  <a:srgbClr val="1565C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Exemplo/Link: Encerramento: revisar conceitos no JFLAP e preparar próxima aula sobre gramáticas regulares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11201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Professor Msc Elionai Magalhães | Slide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2107</Words>
  <Application>Microsoft Office PowerPoint</Application>
  <PresentationFormat>Widescreen</PresentationFormat>
  <Paragraphs>261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Multivix Vitória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Alfabetos, Palavras, Linguagens e Hierarquia de Chomsky</dc:title>
  <dc:subject>Linguagens Formais e Compiladores</dc:subject>
  <dc:creator>OpenAI</dc:creator>
  <cp:lastModifiedBy>Elionai</cp:lastModifiedBy>
  <cp:revision>3</cp:revision>
  <dcterms:created xsi:type="dcterms:W3CDTF">2026-08-05T21:25:12Z</dcterms:created>
  <dcterms:modified xsi:type="dcterms:W3CDTF">2026-08-17T23:10:48Z</dcterms:modified>
</cp:coreProperties>
</file>